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475C630-8075-560E-917A-776F925D7C14}">
          <p14:sldIdLst>
            <p14:sldId id="256"/>
            <p14:sldId id="257"/>
            <p14:sldId id="258"/>
          </p14:sldIdLst>
        </p14:section>
        <p14:section name="Database Design" id="{FB14D41C-37C0-15B8-D4C5-0898A5EB54EC}">
          <p14:sldIdLst>
            <p14:sldId id="259"/>
            <p14:sldId id="260"/>
            <p14:sldId id="261"/>
          </p14:sldIdLst>
        </p14:section>
        <p14:section name="Implementation" id="{DB0D16B0-3CA8-4057-4BD1-76DDDE88CAC1}">
          <p14:sldIdLst>
            <p14:sldId id="262"/>
            <p14:sldId id="263"/>
          </p14:sldIdLst>
        </p14:section>
        <p14:section name="Demonstration" id="{C7898189-D9EB-8428-D118-D8146C149E30}">
          <p14:sldIdLst>
            <p14:sldId id="264"/>
            <p14:sldId id="265"/>
          </p14:sldIdLst>
        </p14:section>
        <p14:section name="Conclusion" id="{7533E61D-E3EA-433E-77E2-96C06707045C}">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m Patel" userId="0ad89edba3f9e6bf" providerId="LiveId" clId="{D961838D-0F49-43D5-B15B-E456D75F87B3}"/>
    <pc:docChg chg="undo custSel modSld">
      <pc:chgData name="Jayam Patel" userId="0ad89edba3f9e6bf" providerId="LiveId" clId="{D961838D-0F49-43D5-B15B-E456D75F87B3}" dt="2026-10-27T04:21:32.747" v="60" actId="14100"/>
      <pc:docMkLst>
        <pc:docMk/>
      </pc:docMkLst>
      <pc:sldChg chg="delSp modSp mod">
        <pc:chgData name="Jayam Patel" userId="0ad89edba3f9e6bf" providerId="LiveId" clId="{D961838D-0F49-43D5-B15B-E456D75F87B3}" dt="2026-10-27T04:08:51.092" v="25" actId="1076"/>
        <pc:sldMkLst>
          <pc:docMk/>
          <pc:sldMk cId="0" sldId="256"/>
        </pc:sldMkLst>
        <pc:spChg chg="mod">
          <ac:chgData name="Jayam Patel" userId="0ad89edba3f9e6bf" providerId="LiveId" clId="{D961838D-0F49-43D5-B15B-E456D75F87B3}" dt="2026-10-27T04:07:39.030" v="13" actId="1076"/>
          <ac:spMkLst>
            <pc:docMk/>
            <pc:sldMk cId="0" sldId="256"/>
            <ac:spMk id="7" creationId="{00000000-0000-0000-0000-000000000000}"/>
          </ac:spMkLst>
        </pc:spChg>
        <pc:spChg chg="del">
          <ac:chgData name="Jayam Patel" userId="0ad89edba3f9e6bf" providerId="LiveId" clId="{D961838D-0F49-43D5-B15B-E456D75F87B3}" dt="2026-10-27T04:08:27.922" v="23" actId="478"/>
          <ac:spMkLst>
            <pc:docMk/>
            <pc:sldMk cId="0" sldId="256"/>
            <ac:spMk id="9" creationId="{00000000-0000-0000-0000-000000000000}"/>
          </ac:spMkLst>
        </pc:spChg>
        <pc:spChg chg="del mod">
          <ac:chgData name="Jayam Patel" userId="0ad89edba3f9e6bf" providerId="LiveId" clId="{D961838D-0F49-43D5-B15B-E456D75F87B3}" dt="2026-10-27T04:08:26.793" v="22" actId="478"/>
          <ac:spMkLst>
            <pc:docMk/>
            <pc:sldMk cId="0" sldId="256"/>
            <ac:spMk id="10" creationId="{00000000-0000-0000-0000-000000000000}"/>
          </ac:spMkLst>
        </pc:spChg>
        <pc:graphicFrameChg chg="mod modGraphic">
          <ac:chgData name="Jayam Patel" userId="0ad89edba3f9e6bf" providerId="LiveId" clId="{D961838D-0F49-43D5-B15B-E456D75F87B3}" dt="2026-10-27T04:08:51.092" v="25" actId="1076"/>
          <ac:graphicFrameMkLst>
            <pc:docMk/>
            <pc:sldMk cId="0" sldId="256"/>
            <ac:graphicFrameMk id="8" creationId="{00000000-0000-0000-0000-000000000000}"/>
          </ac:graphicFrameMkLst>
        </pc:graphicFrameChg>
      </pc:sldChg>
      <pc:sldChg chg="delSp modSp mod">
        <pc:chgData name="Jayam Patel" userId="0ad89edba3f9e6bf" providerId="LiveId" clId="{D961838D-0F49-43D5-B15B-E456D75F87B3}" dt="2026-10-27T04:14:49.665" v="55" actId="14100"/>
        <pc:sldMkLst>
          <pc:docMk/>
          <pc:sldMk cId="0" sldId="264"/>
        </pc:sldMkLst>
        <pc:spChg chg="mod">
          <ac:chgData name="Jayam Patel" userId="0ad89edba3f9e6bf" providerId="LiveId" clId="{D961838D-0F49-43D5-B15B-E456D75F87B3}" dt="2026-10-27T04:14:08.870" v="49" actId="1076"/>
          <ac:spMkLst>
            <pc:docMk/>
            <pc:sldMk cId="0" sldId="264"/>
            <ac:spMk id="4" creationId="{00000000-0000-0000-0000-000000000000}"/>
          </ac:spMkLst>
        </pc:spChg>
        <pc:spChg chg="mod">
          <ac:chgData name="Jayam Patel" userId="0ad89edba3f9e6bf" providerId="LiveId" clId="{D961838D-0F49-43D5-B15B-E456D75F87B3}" dt="2026-10-27T04:14:12.648" v="50" actId="1076"/>
          <ac:spMkLst>
            <pc:docMk/>
            <pc:sldMk cId="0" sldId="264"/>
            <ac:spMk id="5" creationId="{00000000-0000-0000-0000-000000000000}"/>
          </ac:spMkLst>
        </pc:spChg>
        <pc:spChg chg="mod">
          <ac:chgData name="Jayam Patel" userId="0ad89edba3f9e6bf" providerId="LiveId" clId="{D961838D-0F49-43D5-B15B-E456D75F87B3}" dt="2026-10-27T04:13:33.691" v="42" actId="1076"/>
          <ac:spMkLst>
            <pc:docMk/>
            <pc:sldMk cId="0" sldId="264"/>
            <ac:spMk id="7" creationId="{00000000-0000-0000-0000-000000000000}"/>
          </ac:spMkLst>
        </pc:spChg>
        <pc:spChg chg="mod">
          <ac:chgData name="Jayam Patel" userId="0ad89edba3f9e6bf" providerId="LiveId" clId="{D961838D-0F49-43D5-B15B-E456D75F87B3}" dt="2026-10-27T04:13:38.385" v="43" actId="1076"/>
          <ac:spMkLst>
            <pc:docMk/>
            <pc:sldMk cId="0" sldId="264"/>
            <ac:spMk id="8" creationId="{00000000-0000-0000-0000-000000000000}"/>
          </ac:spMkLst>
        </pc:spChg>
        <pc:spChg chg="mod">
          <ac:chgData name="Jayam Patel" userId="0ad89edba3f9e6bf" providerId="LiveId" clId="{D961838D-0F49-43D5-B15B-E456D75F87B3}" dt="2026-10-27T04:14:39.431" v="53" actId="1076"/>
          <ac:spMkLst>
            <pc:docMk/>
            <pc:sldMk cId="0" sldId="264"/>
            <ac:spMk id="10" creationId="{00000000-0000-0000-0000-000000000000}"/>
          </ac:spMkLst>
        </pc:spChg>
        <pc:spChg chg="mod">
          <ac:chgData name="Jayam Patel" userId="0ad89edba3f9e6bf" providerId="LiveId" clId="{D961838D-0F49-43D5-B15B-E456D75F87B3}" dt="2026-10-27T04:14:33.749" v="52" actId="1076"/>
          <ac:spMkLst>
            <pc:docMk/>
            <pc:sldMk cId="0" sldId="264"/>
            <ac:spMk id="11" creationId="{00000000-0000-0000-0000-000000000000}"/>
          </ac:spMkLst>
        </pc:spChg>
        <pc:picChg chg="del">
          <ac:chgData name="Jayam Patel" userId="0ad89edba3f9e6bf" providerId="LiveId" clId="{D961838D-0F49-43D5-B15B-E456D75F87B3}" dt="2026-10-27T04:11:46.371" v="26" actId="478"/>
          <ac:picMkLst>
            <pc:docMk/>
            <pc:sldMk cId="0" sldId="264"/>
            <ac:picMk id="3" creationId="{00000000-0000-0000-0000-000000000000}"/>
          </ac:picMkLst>
        </pc:picChg>
        <pc:picChg chg="mod">
          <ac:chgData name="Jayam Patel" userId="0ad89edba3f9e6bf" providerId="LiveId" clId="{D961838D-0F49-43D5-B15B-E456D75F87B3}" dt="2026-10-27T04:12:48.300" v="36" actId="14100"/>
          <ac:picMkLst>
            <pc:docMk/>
            <pc:sldMk cId="0" sldId="264"/>
            <ac:picMk id="6" creationId="{00000000-0000-0000-0000-000000000000}"/>
          </ac:picMkLst>
        </pc:picChg>
        <pc:picChg chg="mod">
          <ac:chgData name="Jayam Patel" userId="0ad89edba3f9e6bf" providerId="LiveId" clId="{D961838D-0F49-43D5-B15B-E456D75F87B3}" dt="2026-10-27T04:14:49.665" v="55" actId="14100"/>
          <ac:picMkLst>
            <pc:docMk/>
            <pc:sldMk cId="0" sldId="264"/>
            <ac:picMk id="9" creationId="{00000000-0000-0000-0000-000000000000}"/>
          </ac:picMkLst>
        </pc:picChg>
      </pc:sldChg>
      <pc:sldChg chg="modSp mod">
        <pc:chgData name="Jayam Patel" userId="0ad89edba3f9e6bf" providerId="LiveId" clId="{D961838D-0F49-43D5-B15B-E456D75F87B3}" dt="2026-10-27T04:21:32.747" v="60" actId="14100"/>
        <pc:sldMkLst>
          <pc:docMk/>
          <pc:sldMk cId="0" sldId="265"/>
        </pc:sldMkLst>
        <pc:picChg chg="mod">
          <ac:chgData name="Jayam Patel" userId="0ad89edba3f9e6bf" providerId="LiveId" clId="{D961838D-0F49-43D5-B15B-E456D75F87B3}" dt="2026-10-27T04:21:13.210" v="57" actId="14100"/>
          <ac:picMkLst>
            <pc:docMk/>
            <pc:sldMk cId="0" sldId="265"/>
            <ac:picMk id="3" creationId="{00000000-0000-0000-0000-000000000000}"/>
          </ac:picMkLst>
        </pc:picChg>
        <pc:picChg chg="mod">
          <ac:chgData name="Jayam Patel" userId="0ad89edba3f9e6bf" providerId="LiveId" clId="{D961838D-0F49-43D5-B15B-E456D75F87B3}" dt="2026-10-27T04:21:32.747" v="60" actId="14100"/>
          <ac:picMkLst>
            <pc:docMk/>
            <pc:sldMk cId="0" sldId="265"/>
            <ac:picMk id="6" creationId="{00000000-0000-0000-0000-000000000000}"/>
          </ac:picMkLst>
        </pc:picChg>
        <pc:picChg chg="mod">
          <ac:chgData name="Jayam Patel" userId="0ad89edba3f9e6bf" providerId="LiveId" clId="{D961838D-0F49-43D5-B15B-E456D75F87B3}" dt="2026-10-27T04:21:24.426" v="59" actId="14100"/>
          <ac:picMkLst>
            <pc:docMk/>
            <pc:sldMk cId="0" sldId="265"/>
            <ac:picMk id="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D879DE1-4CDB-474E-B171-F5FE4D7E2B40}" type="datetimeFigureOut">
              <a:rPr lang="en-US" smtClean="0"/>
              <a:t>10/27/2026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BF1933E9-645C-3542-A43D-A5A5DC6126FF}" type="slidenum">
              <a:rPr lang="en-US" smtClean="0"/>
              <a:t>‹#›</a:t>
            </a:fld>
            <a:endParaRPr lang="en-US"/>
          </a:p>
        </p:txBody>
      </p:sp>
    </p:spTree>
    <p:extLst>
      <p:ext uri="{BB962C8B-B14F-4D97-AF65-F5344CB8AC3E}">
        <p14:creationId xmlns:p14="http://schemas.microsoft.com/office/powerpoint/2010/main" val="2598303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Team Leader (Hit).
Good morning, respected faculty. We are Group ___ from the Department of Information Technology, and our DBMS mini project is the Student Attendance Management System. Let me introduce our team: [read names and roles from the table]. We will now walk you through the problem, the database design, the SQL implementation, a live demonstration and our conclusion.
TIP: Edit the team table, group number and faculty name directly on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2 (Shrey).
In most colleges attendance is still kept in registers or separate spreadsheets. It is slow to search, percentages are calculated by hand and mistakes creep in. It is also difficult to quickly find students below 75% or who was absent on a particular day.
Our system stores everything in related database tables, blocks duplicate and invalid entries with constraints, and produces reports with simple SQL queries.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2 (Shrey).
Our objectives are: store student, faculty and course data; record daily Present or Absent; calculate percentages; flag students below 75%; and keep the data valid using keys and constraints.
For requirements we need only a normal laptop. The database is SQLite and the application is written in Python with three interfaces: command line, Tkinter desktop GUI and a browser page.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3 (Jaimin).
This is the high-level architecture. The faculty or admin is the user. They interact through one of three interfaces. The Python application applies the business rules and runs SQL queries. All data lives in one SQLite database with four tables and a summary view.
Flow: attendance is marked, saved only if it passes the constraints, the view calculates percentages, and the report is shown on screen.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1 (Hit).
Our ER diagram has four entities: Students, Faculty, Courses and Attendance_Logs. Primary keys are student_id, faculty_id, course_id and log_id.
Relationships: one faculty teaches many courses (1:M). One student has many attendance entries (1:M). One course has many attendance entries (1:M). Attendance_Logs is the table that connects everything.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1 (Hit).
The ER model maps to four tables. PK is a primary key and FK a foreign key. Courses points to Faculty through faculty_id. Attendance_Logs points to Students, Courses and Faculty, and has a UNIQUE rule so the same student cannot be marked twice for the same course and date.
Normalization: 1NF - single values in every field. 2NF - details are stored with their own key. 3NF - faculty and course details are in separate tables, so nothing is repeated unnecessarily.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2 (Shrey).
These are the DDL scripts. Students has a unique roll number and a CHECK that semester is between 1 and 8. Courses links to Faculty with a foreign key. Attendance_Logs is the main table: status can only be Present or Absent, three foreign keys keep records valid, and a UNIQUE rule on student, course and date stops duplicate entries.
The full project also has the Faculty table, indexes and the v_attendance_summary 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3 (Jaimin).
Query 1 reads from the view v_attendance_summary, which calculates total classes, classes attended and percentage using aggregate functions. Query 2 filters that view to show students below 75%. Query 3 joins Attendance_Logs, Students and Courses to list absentees for a date. Query 4 joins Faculty and Courses.
A view stores a reusable SELECT, not a copy of the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3 (Jaimin) - run the live demo.
DEMO STEPS: (1) python3 main.py to show the menu. (2) Open python3 gui_app.py, go to Mark Attendance, pick a course and date, Load Students, toggle a student Absent, Save Attendance. (3) Open View Records to show the populated Students table.
If the live demo fails, use these screenshots.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4 (Jayam).
These are the report screens. The Student Report shows one student's attendance in every course. The Course Report lists all students of a course. The Defaulters tab lists everyone below 75% in any course.
Rows are colour-coded: green is Eligible (75% or more), amber is Condonation (65% to below 75%) and red is Detained (below 65%). These are sample project rules and should be matched to the official college policy.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Member 4 (Jayam).
In summary, we built a relational database that stores student, faculty and course data, records daily attendance with strong constraints, and produces attendance reports using SQL. We applied DDL, DML, joins, aggregate functions, views, constraints and normalization.
Future scope: login roles, timetable integration, PDF and Excel export, low-attendance alerts, audit logs, and a MySQL version with backups.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faculty and invite questions.
LIKELY QUESTIONS: What is a primary key vs a foreign key? Why 3NF? What does UNIQUE(student_id, course_id, attendance_date) prevent? What does the view v_attendance_summary do? Why SQLite? How would you extend it to many users?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rgbClr val="FFFFFF"/>
        </a:solidFill>
        <a:effectLst/>
      </p:bgPr>
    </p:bg>
    <p:spTree>
      <p:nvGrpSpPr>
        <p:cNvPr id="1" name=""/>
        <p:cNvGrpSpPr/>
        <p:nvPr/>
      </p:nvGrpSpPr>
      <p:grpSpPr>
        <a:xfrm>
          <a:off x="0" y="0"/>
          <a:ext cx="0" cy="0"/>
          <a:chOff x="0" y="0"/>
          <a:chExt cx="0" cy="0"/>
        </a:xfrm>
      </p:grpSpPr>
      <p:pic>
        <p:nvPicPr>
          <p:cNvPr id="2" name="Image 0" descr="ADIT logo"/>
          <p:cNvPicPr>
            <a:picLocks noChangeAspect="1"/>
          </p:cNvPicPr>
          <p:nvPr/>
        </p:nvPicPr>
        <p:blipFill>
          <a:blip r:embed="rId2"/>
          <a:stretch>
            <a:fillRect/>
          </a:stretch>
        </p:blipFill>
        <p:spPr>
          <a:xfrm>
            <a:off x="457200" y="320040"/>
            <a:ext cx="960120" cy="891865"/>
          </a:xfrm>
          <a:prstGeom prst="rect">
            <a:avLst/>
          </a:prstGeom>
        </p:spPr>
      </p:pic>
      <p:pic>
        <p:nvPicPr>
          <p:cNvPr id="3" name="Image 1" descr="CVM University logo"/>
          <p:cNvPicPr>
            <a:picLocks noChangeAspect="1"/>
          </p:cNvPicPr>
          <p:nvPr/>
        </p:nvPicPr>
        <p:blipFill>
          <a:blip r:embed="rId3"/>
          <a:stretch>
            <a:fillRect/>
          </a:stretch>
        </p:blipFill>
        <p:spPr>
          <a:xfrm>
            <a:off x="10863072" y="320040"/>
            <a:ext cx="868680" cy="933831"/>
          </a:xfrm>
          <a:prstGeom prst="rect">
            <a:avLst/>
          </a:prstGeom>
        </p:spPr>
      </p:pic>
      <p:sp>
        <p:nvSpPr>
          <p:cNvPr id="4" name="Text 0"/>
          <p:cNvSpPr>
            <a:spLocks noGrp="1"/>
          </p:cNvSpPr>
          <p:nvPr>
            <p:ph type="title" idx="102" hasCustomPrompt="1"/>
          </p:nvPr>
        </p:nvSpPr>
        <p:spPr>
          <a:xfrm>
            <a:off x="457200" y="2240280"/>
            <a:ext cx="11274552" cy="822960"/>
          </a:xfrm>
          <a:prstGeom prst="rect">
            <a:avLst/>
          </a:prstGeom>
          <a:noFill/>
          <a:ln/>
        </p:spPr>
        <p:txBody>
          <a:bodyPr wrap="square" rtlCol="0"/>
          <a:lstStyle>
            <a:lvl1pPr marL="0" indent="0" algn="ctr">
              <a:buNone/>
              <a:defRPr lang="en-US" sz="4000" b="1" dirty="0">
                <a:solidFill>
                  <a:schemeClr val="tx2"/>
                </a:solidFill>
              </a:defRPr>
            </a:lvl1pPr>
          </a:lstStyle>
          <a:p>
            <a:pPr marL="0" indent="0" algn="ctr">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solidFill>
          <a:srgbClr val="FFFFFF"/>
        </a:solidFill>
        <a:effectLst/>
      </p:bgPr>
    </p:bg>
    <p:spTree>
      <p:nvGrpSpPr>
        <p:cNvPr id="1" name=""/>
        <p:cNvGrpSpPr/>
        <p:nvPr/>
      </p:nvGrpSpPr>
      <p:grpSpPr>
        <a:xfrm>
          <a:off x="0" y="0"/>
          <a:ext cx="0" cy="0"/>
          <a:chOff x="0" y="0"/>
          <a:chExt cx="0" cy="0"/>
        </a:xfrm>
      </p:grpSpPr>
      <p:pic>
        <p:nvPicPr>
          <p:cNvPr id="2" name="Image 0" descr="ADIT logo"/>
          <p:cNvPicPr>
            <a:picLocks noChangeAspect="1"/>
          </p:cNvPicPr>
          <p:nvPr/>
        </p:nvPicPr>
        <p:blipFill>
          <a:blip r:embed="rId2"/>
          <a:stretch>
            <a:fillRect/>
          </a:stretch>
        </p:blipFill>
        <p:spPr>
          <a:xfrm>
            <a:off x="11018520" y="274320"/>
            <a:ext cx="713232" cy="662528"/>
          </a:xfrm>
          <a:prstGeom prst="rect">
            <a:avLst/>
          </a:prstGeom>
        </p:spPr>
      </p:pic>
      <p:sp>
        <p:nvSpPr>
          <p:cNvPr id="3" name="Text 0"/>
          <p:cNvSpPr/>
          <p:nvPr/>
        </p:nvSpPr>
        <p:spPr>
          <a:xfrm>
            <a:off x="457200" y="6419088"/>
            <a:ext cx="8229600" cy="274320"/>
          </a:xfrm>
          <a:prstGeom prst="rect">
            <a:avLst/>
          </a:prstGeom>
          <a:noFill/>
          <a:ln/>
        </p:spPr>
        <p:txBody>
          <a:bodyPr wrap="square" lIns="0" tIns="0" rIns="0" bIns="0" rtlCol="0" anchor="ctr"/>
          <a:lstStyle/>
          <a:p>
            <a:pPr marL="0" indent="0">
              <a:buNone/>
            </a:pPr>
            <a:r>
              <a:rPr lang="en-US" sz="1000" dirty="0">
                <a:solidFill>
                  <a:schemeClr val="tx2"/>
                </a:solidFill>
              </a:rPr>
              <a:t>Student Attendance Management System  |  DBMS Mini Project  |  ADIT</a:t>
            </a:r>
            <a:endParaRPr lang="en-US" sz="1000" dirty="0"/>
          </a:p>
        </p:txBody>
      </p:sp>
      <p:sp>
        <p:nvSpPr>
          <p:cNvPr id="4" name="Text 1"/>
          <p:cNvSpPr>
            <a:spLocks noGrp="1"/>
          </p:cNvSpPr>
          <p:nvPr>
            <p:ph type="title" idx="102" hasCustomPrompt="1"/>
          </p:nvPr>
        </p:nvSpPr>
        <p:spPr>
          <a:xfrm>
            <a:off x="457200" y="274320"/>
            <a:ext cx="1024128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LAYOUT">
    <p:bg>
      <p:bgPr>
        <a:solidFill>
          <a:srgbClr val="FFFFFF"/>
        </a:solidFill>
        <a:effectLst/>
      </p:bgPr>
    </p:bg>
    <p:spTree>
      <p:nvGrpSpPr>
        <p:cNvPr id="1" name=""/>
        <p:cNvGrpSpPr/>
        <p:nvPr/>
      </p:nvGrpSpPr>
      <p:grpSpPr>
        <a:xfrm>
          <a:off x="0" y="0"/>
          <a:ext cx="0" cy="0"/>
          <a:chOff x="0" y="0"/>
          <a:chExt cx="0" cy="0"/>
        </a:xfrm>
      </p:grpSpPr>
      <p:pic>
        <p:nvPicPr>
          <p:cNvPr id="2" name="Image 0" descr="ADIT logo"/>
          <p:cNvPicPr>
            <a:picLocks noChangeAspect="1"/>
          </p:cNvPicPr>
          <p:nvPr/>
        </p:nvPicPr>
        <p:blipFill>
          <a:blip r:embed="rId2"/>
          <a:stretch>
            <a:fillRect/>
          </a:stretch>
        </p:blipFill>
        <p:spPr>
          <a:xfrm>
            <a:off x="457200" y="320040"/>
            <a:ext cx="960120" cy="891865"/>
          </a:xfrm>
          <a:prstGeom prst="rect">
            <a:avLst/>
          </a:prstGeom>
        </p:spPr>
      </p:pic>
      <p:pic>
        <p:nvPicPr>
          <p:cNvPr id="3" name="Image 1" descr="CVM University logo"/>
          <p:cNvPicPr>
            <a:picLocks noChangeAspect="1"/>
          </p:cNvPicPr>
          <p:nvPr/>
        </p:nvPicPr>
        <p:blipFill>
          <a:blip r:embed="rId3"/>
          <a:stretch>
            <a:fillRect/>
          </a:stretch>
        </p:blipFill>
        <p:spPr>
          <a:xfrm>
            <a:off x="10863072" y="320040"/>
            <a:ext cx="868680" cy="933831"/>
          </a:xfrm>
          <a:prstGeom prst="rect">
            <a:avLst/>
          </a:prstGeom>
        </p:spPr>
      </p:pic>
      <p:sp>
        <p:nvSpPr>
          <p:cNvPr id="4" name="Text 0"/>
          <p:cNvSpPr>
            <a:spLocks noGrp="1"/>
          </p:cNvSpPr>
          <p:nvPr>
            <p:ph type="title" idx="102" hasCustomPrompt="1"/>
          </p:nvPr>
        </p:nvSpPr>
        <p:spPr>
          <a:xfrm>
            <a:off x="457200" y="2514600"/>
            <a:ext cx="11274552" cy="914400"/>
          </a:xfrm>
          <a:prstGeom prst="rect">
            <a:avLst/>
          </a:prstGeom>
          <a:noFill/>
          <a:ln/>
        </p:spPr>
        <p:txBody>
          <a:bodyPr wrap="square" rtlCol="0"/>
          <a:lstStyle>
            <a:lvl1pPr marL="0" indent="0" algn="ctr">
              <a:buNone/>
              <a:defRPr lang="en-US" sz="5400" b="1" dirty="0">
                <a:solidFill>
                  <a:schemeClr val="tx2"/>
                </a:solidFill>
              </a:defRPr>
            </a:lvl1pPr>
          </a:lstStyle>
          <a:p>
            <a:pPr marL="0" indent="0" algn="ctr">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7.jpg"/><Relationship Id="rId4" Type="http://schemas.openxmlformats.org/officeDocument/2006/relationships/image" Target="../media/image16.jp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nstitute name"/>
          <p:cNvSpPr txBox="1"/>
          <p:nvPr/>
        </p:nvSpPr>
        <p:spPr>
          <a:xfrm>
            <a:off x="1828800" y="411480"/>
            <a:ext cx="8531352" cy="457200"/>
          </a:xfrm>
          <a:prstGeom prst="rect">
            <a:avLst/>
          </a:prstGeom>
          <a:noFill/>
          <a:ln/>
        </p:spPr>
        <p:txBody>
          <a:bodyPr wrap="square" lIns="0" tIns="0" rIns="0" bIns="0" rtlCol="0" anchor="t"/>
          <a:lstStyle/>
          <a:p>
            <a:pPr marL="0" indent="0" algn="ctr">
              <a:buNone/>
            </a:pPr>
            <a:r>
              <a:rPr lang="en-US" sz="2600" b="1" dirty="0">
                <a:solidFill>
                  <a:schemeClr val="tx2"/>
                </a:solidFill>
                <a:latin typeface="+mj-lt" pitchFamily="34" charset="0"/>
                <a:ea typeface="+mj-lt" pitchFamily="34" charset="-122"/>
                <a:cs typeface="+mj-lt" pitchFamily="34" charset="-120"/>
              </a:rPr>
              <a:t>A. D. PATEL INSTITUTE OF TECHNOLOGY</a:t>
            </a:r>
            <a:endParaRPr lang="en-US" sz="2600" dirty="0"/>
          </a:p>
        </p:txBody>
      </p:sp>
      <p:sp>
        <p:nvSpPr>
          <p:cNvPr id="3" name="Department"/>
          <p:cNvSpPr txBox="1"/>
          <p:nvPr/>
        </p:nvSpPr>
        <p:spPr>
          <a:xfrm>
            <a:off x="1828800" y="896112"/>
            <a:ext cx="8531352" cy="365760"/>
          </a:xfrm>
          <a:prstGeom prst="rect">
            <a:avLst/>
          </a:prstGeom>
          <a:noFill/>
          <a:ln/>
        </p:spPr>
        <p:txBody>
          <a:bodyPr wrap="square" lIns="0" tIns="0" rIns="0" bIns="0" rtlCol="0" anchor="t"/>
          <a:lstStyle/>
          <a:p>
            <a:pPr marL="0" indent="0" algn="ctr">
              <a:buNone/>
            </a:pPr>
            <a:r>
              <a:rPr lang="en-US" sz="1600" dirty="0">
                <a:solidFill>
                  <a:schemeClr val="tx1"/>
                </a:solidFill>
              </a:rPr>
              <a:t>Department of Information Technology  |  CVM University</a:t>
            </a:r>
            <a:endParaRPr lang="en-US" sz="1600" dirty="0"/>
          </a:p>
        </p:txBody>
      </p:sp>
      <p:sp>
        <p:nvSpPr>
          <p:cNvPr id="4" name="Project type chip"/>
          <p:cNvSpPr/>
          <p:nvPr/>
        </p:nvSpPr>
        <p:spPr>
          <a:xfrm>
            <a:off x="4727448" y="1691640"/>
            <a:ext cx="2743200" cy="384048"/>
          </a:xfrm>
          <a:prstGeom prst="roundRect">
            <a:avLst>
              <a:gd name="adj" fmla="val 23810"/>
            </a:avLst>
          </a:prstGeom>
          <a:solidFill>
            <a:schemeClr val="accent2"/>
          </a:solidFill>
          <a:ln/>
        </p:spPr>
      </p:sp>
      <p:sp>
        <p:nvSpPr>
          <p:cNvPr id="5" name="Project type label"/>
          <p:cNvSpPr txBox="1"/>
          <p:nvPr/>
        </p:nvSpPr>
        <p:spPr>
          <a:xfrm>
            <a:off x="4727448" y="1691640"/>
            <a:ext cx="2743200" cy="384048"/>
          </a:xfrm>
          <a:prstGeom prst="rect">
            <a:avLst/>
          </a:prstGeom>
          <a:noFill/>
          <a:ln/>
        </p:spPr>
        <p:txBody>
          <a:bodyPr wrap="square" lIns="0" tIns="0" rIns="0" bIns="0" rtlCol="0" anchor="ctr"/>
          <a:lstStyle/>
          <a:p>
            <a:pPr marL="0" indent="0" algn="ctr">
              <a:buNone/>
            </a:pPr>
            <a:r>
              <a:rPr lang="en-US" sz="1400" b="1" kern="0" spc="200" dirty="0">
                <a:solidFill>
                  <a:schemeClr val="bg1"/>
                </a:solidFill>
              </a:rPr>
              <a:t>DBMS MINI PROJECT</a:t>
            </a:r>
            <a:endParaRPr lang="en-US" sz="1400" dirty="0"/>
          </a:p>
        </p:txBody>
      </p:sp>
      <p:sp>
        <p:nvSpPr>
          <p:cNvPr id="6" name="Text 0"/>
          <p:cNvSpPr>
            <a:spLocks noGrp="1"/>
          </p:cNvSpPr>
          <p:nvPr>
            <p:ph type="title" idx="102" hasCustomPrompt="1"/>
          </p:nvPr>
        </p:nvSpPr>
        <p:spPr>
          <a:xfrm>
            <a:off x="457200" y="2240280"/>
            <a:ext cx="11274552" cy="822960"/>
          </a:xfrm>
          <a:prstGeom prst="rect">
            <a:avLst/>
          </a:prstGeom>
          <a:noFill/>
          <a:ln/>
        </p:spPr>
        <p:txBody>
          <a:bodyPr wrap="square" lIns="0" tIns="0" rIns="0" bIns="0" rtlCol="0" anchor="ctr"/>
          <a:lstStyle/>
          <a:p>
            <a:pPr marL="0" indent="0" algn="ctr">
              <a:buNone/>
            </a:pPr>
            <a:r>
              <a:rPr lang="en-US" sz="4000" b="1" dirty="0">
                <a:solidFill>
                  <a:schemeClr val="tx2"/>
                </a:solidFill>
              </a:rPr>
              <a:t>Student Attendance Management System</a:t>
            </a:r>
            <a:endParaRPr lang="en-US" sz="4000" dirty="0"/>
          </a:p>
        </p:txBody>
      </p:sp>
      <p:sp>
        <p:nvSpPr>
          <p:cNvPr id="7" name="Subject line"/>
          <p:cNvSpPr txBox="1"/>
          <p:nvPr/>
        </p:nvSpPr>
        <p:spPr>
          <a:xfrm>
            <a:off x="1371600" y="3108960"/>
            <a:ext cx="9445752" cy="365760"/>
          </a:xfrm>
          <a:prstGeom prst="rect">
            <a:avLst/>
          </a:prstGeom>
          <a:noFill/>
          <a:ln/>
        </p:spPr>
        <p:txBody>
          <a:bodyPr wrap="square" lIns="0" tIns="0" rIns="0" bIns="0" rtlCol="0" anchor="t"/>
          <a:lstStyle/>
          <a:p>
            <a:pPr marL="0" indent="0" algn="ctr">
              <a:buNone/>
            </a:pPr>
            <a:r>
              <a:rPr lang="en-US" sz="1600" dirty="0">
                <a:solidFill>
                  <a:schemeClr val="accent2"/>
                </a:solidFill>
              </a:rPr>
              <a:t>Subject: Database Management System (DBMS)   |   Academic Year 2026–2027</a:t>
            </a:r>
            <a:endParaRPr lang="en-US" sz="1600" dirty="0"/>
          </a:p>
        </p:txBody>
      </p:sp>
      <p:graphicFrame>
        <p:nvGraphicFramePr>
          <p:cNvPr id="8" name="Team members table"/>
          <p:cNvGraphicFramePr>
            <a:graphicFrameLocks noGrp="1"/>
          </p:cNvGraphicFramePr>
          <p:nvPr>
            <p:extLst>
              <p:ext uri="{D42A27DB-BD31-4B8C-83A1-F6EECF244321}">
                <p14:modId xmlns:p14="http://schemas.microsoft.com/office/powerpoint/2010/main" val="941887647"/>
              </p:ext>
            </p:extLst>
          </p:nvPr>
        </p:nvGraphicFramePr>
        <p:xfrm>
          <a:off x="2737042" y="3782630"/>
          <a:ext cx="7436498" cy="2011680"/>
        </p:xfrm>
        <a:graphic>
          <a:graphicData uri="http://schemas.openxmlformats.org/drawingml/2006/table">
            <a:tbl>
              <a:tblPr/>
              <a:tblGrid>
                <a:gridCol w="3394922">
                  <a:extLst>
                    <a:ext uri="{9D8B030D-6E8A-4147-A177-3AD203B41FA5}">
                      <a16:colId xmlns:a16="http://schemas.microsoft.com/office/drawing/2014/main" val="20000"/>
                    </a:ext>
                  </a:extLst>
                </a:gridCol>
                <a:gridCol w="4041576">
                  <a:extLst>
                    <a:ext uri="{9D8B030D-6E8A-4147-A177-3AD203B41FA5}">
                      <a16:colId xmlns:a16="http://schemas.microsoft.com/office/drawing/2014/main" val="20001"/>
                    </a:ext>
                  </a:extLst>
                </a:gridCol>
              </a:tblGrid>
              <a:tr h="402336">
                <a:tc>
                  <a:txBody>
                    <a:bodyPr/>
                    <a:lstStyle/>
                    <a:p>
                      <a:pPr marL="0" indent="0">
                        <a:buNone/>
                      </a:pPr>
                      <a:r>
                        <a:rPr lang="en-US" sz="1400" b="1" dirty="0">
                          <a:solidFill>
                            <a:schemeClr val="bg1"/>
                          </a:solidFill>
                        </a:rPr>
                        <a:t>Enrollment No.</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Name</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02336">
                <a:tc>
                  <a:txBody>
                    <a:bodyPr/>
                    <a:lstStyle/>
                    <a:p>
                      <a:pPr marL="0" indent="0">
                        <a:buNone/>
                      </a:pPr>
                      <a:r>
                        <a:rPr lang="en-US" sz="1400" dirty="0">
                          <a:solidFill>
                            <a:schemeClr val="tx1"/>
                          </a:solidFill>
                        </a:rPr>
                        <a:t>26D2DIT006</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Mistry Hit M</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2336">
                <a:tc>
                  <a:txBody>
                    <a:bodyPr/>
                    <a:lstStyle/>
                    <a:p>
                      <a:pPr marL="0" indent="0">
                        <a:buNone/>
                      </a:pPr>
                      <a:r>
                        <a:rPr lang="en-US" sz="1400" dirty="0">
                          <a:solidFill>
                            <a:schemeClr val="tx1"/>
                          </a:solidFill>
                        </a:rPr>
                        <a:t>26D2DIT007</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Parmar Shrey S</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02336">
                <a:tc>
                  <a:txBody>
                    <a:bodyPr/>
                    <a:lstStyle/>
                    <a:p>
                      <a:pPr marL="0" indent="0">
                        <a:buNone/>
                      </a:pPr>
                      <a:r>
                        <a:rPr lang="en-US" sz="1400" dirty="0">
                          <a:solidFill>
                            <a:schemeClr val="tx1"/>
                          </a:solidFill>
                        </a:rPr>
                        <a:t>12502080601040</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rPr>
                        <a:t>Rana Jaimin</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02336">
                <a:tc>
                  <a:txBody>
                    <a:bodyPr/>
                    <a:lstStyle/>
                    <a:p>
                      <a:pPr marL="0" indent="0">
                        <a:buNone/>
                      </a:pPr>
                      <a:r>
                        <a:rPr lang="en-US" sz="1400" dirty="0">
                          <a:solidFill>
                            <a:schemeClr val="tx1"/>
                          </a:solidFill>
                        </a:rPr>
                        <a:t>12502080601045</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Patel Jayam</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Problem Statement &amp; Motivation</a:t>
            </a:r>
            <a:endParaRPr lang="en-US" sz="3400" dirty="0"/>
          </a:p>
        </p:txBody>
      </p:sp>
      <p:sp>
        <p:nvSpPr>
          <p:cNvPr id="3" name="Existing system card"/>
          <p:cNvSpPr/>
          <p:nvPr/>
        </p:nvSpPr>
        <p:spPr>
          <a:xfrm>
            <a:off x="457200" y="1325880"/>
            <a:ext cx="5486400" cy="3840480"/>
          </a:xfrm>
          <a:prstGeom prst="roundRect">
            <a:avLst>
              <a:gd name="adj" fmla="val 1905"/>
            </a:avLst>
          </a:prstGeom>
          <a:solidFill>
            <a:schemeClr val="bg2"/>
          </a:solidFill>
          <a:ln/>
        </p:spPr>
      </p:sp>
      <p:sp>
        <p:nvSpPr>
          <p:cNvPr id="4" name="Warning circle"/>
          <p:cNvSpPr/>
          <p:nvPr/>
        </p:nvSpPr>
        <p:spPr>
          <a:xfrm>
            <a:off x="685800" y="1508760"/>
            <a:ext cx="566928" cy="566928"/>
          </a:xfrm>
          <a:prstGeom prst="ellipse">
            <a:avLst/>
          </a:prstGeom>
          <a:solidFill>
            <a:schemeClr val="accent6"/>
          </a:solidFill>
          <a:ln/>
        </p:spPr>
      </p:sp>
      <p:pic>
        <p:nvPicPr>
          <p:cNvPr id="5" name="Warning icon" descr="Warning"/>
          <p:cNvPicPr>
            <a:picLocks noChangeAspect="1"/>
          </p:cNvPicPr>
          <p:nvPr/>
        </p:nvPicPr>
        <p:blipFill>
          <a:blip r:embed="rId3"/>
          <a:stretch>
            <a:fillRect/>
          </a:stretch>
        </p:blipFill>
        <p:spPr>
          <a:xfrm>
            <a:off x="838871" y="1661831"/>
            <a:ext cx="260787" cy="260787"/>
          </a:xfrm>
          <a:prstGeom prst="rect">
            <a:avLst/>
          </a:prstGeom>
        </p:spPr>
      </p:pic>
      <p:sp>
        <p:nvSpPr>
          <p:cNvPr id="6" name="Existing system heading"/>
          <p:cNvSpPr txBox="1"/>
          <p:nvPr/>
        </p:nvSpPr>
        <p:spPr>
          <a:xfrm>
            <a:off x="1417320" y="1508760"/>
            <a:ext cx="4297680" cy="566928"/>
          </a:xfrm>
          <a:prstGeom prst="rect">
            <a:avLst/>
          </a:prstGeom>
          <a:noFill/>
          <a:ln/>
        </p:spPr>
        <p:txBody>
          <a:bodyPr wrap="square" lIns="0" tIns="0" rIns="0" bIns="0" rtlCol="0" anchor="ctr"/>
          <a:lstStyle/>
          <a:p>
            <a:pPr marL="0" indent="0">
              <a:buNone/>
            </a:pPr>
            <a:r>
              <a:rPr lang="en-US" sz="2000" b="1" dirty="0">
                <a:solidFill>
                  <a:schemeClr val="accent6"/>
                </a:solidFill>
              </a:rPr>
              <a:t>Existing manual system</a:t>
            </a:r>
            <a:endParaRPr lang="en-US" sz="2000" dirty="0"/>
          </a:p>
        </p:txBody>
      </p:sp>
      <p:sp>
        <p:nvSpPr>
          <p:cNvPr id="7" name="Existing system points"/>
          <p:cNvSpPr txBox="1"/>
          <p:nvPr/>
        </p:nvSpPr>
        <p:spPr>
          <a:xfrm>
            <a:off x="731520" y="2331720"/>
            <a:ext cx="4937760" cy="265176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Attendance kept in paper registers or separate spreadsheets</a:t>
            </a:r>
            <a:endParaRPr lang="en-US" sz="1800" dirty="0"/>
          </a:p>
          <a:p>
            <a:pPr marL="342900" indent="-342900">
              <a:spcAft>
                <a:spcPts val="1600"/>
              </a:spcAft>
              <a:buSzPct val="100000"/>
              <a:buChar char="•"/>
            </a:pPr>
            <a:r>
              <a:rPr lang="en-US" sz="1800" dirty="0">
                <a:solidFill>
                  <a:schemeClr val="tx1"/>
                </a:solidFill>
              </a:rPr>
              <a:t>Searching one student's record takes time</a:t>
            </a:r>
            <a:endParaRPr lang="en-US" sz="1800" dirty="0"/>
          </a:p>
          <a:p>
            <a:pPr marL="342900" indent="-342900">
              <a:spcAft>
                <a:spcPts val="1600"/>
              </a:spcAft>
              <a:buSzPct val="100000"/>
              <a:buChar char="•"/>
            </a:pPr>
            <a:r>
              <a:rPr lang="en-US" sz="1800" dirty="0">
                <a:solidFill>
                  <a:schemeClr val="tx1"/>
                </a:solidFill>
              </a:rPr>
              <a:t>Repeated manual percentage calculations cause errors</a:t>
            </a:r>
            <a:endParaRPr lang="en-US" sz="1800" dirty="0"/>
          </a:p>
          <a:p>
            <a:pPr marL="342900" indent="-342900">
              <a:spcAft>
                <a:spcPts val="1600"/>
              </a:spcAft>
              <a:buSzPct val="100000"/>
              <a:buChar char="•"/>
            </a:pPr>
            <a:r>
              <a:rPr lang="en-US" sz="1800" dirty="0">
                <a:solidFill>
                  <a:schemeClr val="tx1"/>
                </a:solidFill>
              </a:rPr>
              <a:t>Hard to list defaulters or absentees for a date</a:t>
            </a:r>
            <a:endParaRPr lang="en-US" sz="1800" dirty="0"/>
          </a:p>
        </p:txBody>
      </p:sp>
      <p:sp>
        <p:nvSpPr>
          <p:cNvPr id="8" name="Proposed system card"/>
          <p:cNvSpPr/>
          <p:nvPr/>
        </p:nvSpPr>
        <p:spPr>
          <a:xfrm>
            <a:off x="6245352" y="1325880"/>
            <a:ext cx="5486400" cy="3840480"/>
          </a:xfrm>
          <a:prstGeom prst="roundRect">
            <a:avLst>
              <a:gd name="adj" fmla="val 1905"/>
            </a:avLst>
          </a:prstGeom>
          <a:solidFill>
            <a:schemeClr val="bg2"/>
          </a:solidFill>
          <a:ln/>
        </p:spPr>
      </p:sp>
      <p:sp>
        <p:nvSpPr>
          <p:cNvPr id="9" name="Check circle"/>
          <p:cNvSpPr/>
          <p:nvPr/>
        </p:nvSpPr>
        <p:spPr>
          <a:xfrm>
            <a:off x="6473952" y="1508760"/>
            <a:ext cx="566928" cy="566928"/>
          </a:xfrm>
          <a:prstGeom prst="ellipse">
            <a:avLst/>
          </a:prstGeom>
          <a:solidFill>
            <a:schemeClr val="accent4"/>
          </a:solidFill>
          <a:ln/>
        </p:spPr>
      </p:sp>
      <p:pic>
        <p:nvPicPr>
          <p:cNvPr id="10" name="Check icon" descr="Check"/>
          <p:cNvPicPr>
            <a:picLocks noChangeAspect="1"/>
          </p:cNvPicPr>
          <p:nvPr/>
        </p:nvPicPr>
        <p:blipFill>
          <a:blip r:embed="rId4"/>
          <a:stretch>
            <a:fillRect/>
          </a:stretch>
        </p:blipFill>
        <p:spPr>
          <a:xfrm>
            <a:off x="6627023" y="1661831"/>
            <a:ext cx="260787" cy="260787"/>
          </a:xfrm>
          <a:prstGeom prst="rect">
            <a:avLst/>
          </a:prstGeom>
        </p:spPr>
      </p:pic>
      <p:sp>
        <p:nvSpPr>
          <p:cNvPr id="11" name="Proposed system heading"/>
          <p:cNvSpPr txBox="1"/>
          <p:nvPr/>
        </p:nvSpPr>
        <p:spPr>
          <a:xfrm>
            <a:off x="7205472" y="1508760"/>
            <a:ext cx="4297680" cy="566928"/>
          </a:xfrm>
          <a:prstGeom prst="rect">
            <a:avLst/>
          </a:prstGeom>
          <a:noFill/>
          <a:ln/>
        </p:spPr>
        <p:txBody>
          <a:bodyPr wrap="square" lIns="0" tIns="0" rIns="0" bIns="0" rtlCol="0" anchor="ctr"/>
          <a:lstStyle/>
          <a:p>
            <a:pPr marL="0" indent="0">
              <a:buNone/>
            </a:pPr>
            <a:r>
              <a:rPr lang="en-US" sz="2000" b="1" dirty="0">
                <a:solidFill>
                  <a:schemeClr val="accent4"/>
                </a:solidFill>
              </a:rPr>
              <a:t>Proposed database system</a:t>
            </a:r>
            <a:endParaRPr lang="en-US" sz="2000" dirty="0"/>
          </a:p>
        </p:txBody>
      </p:sp>
      <p:sp>
        <p:nvSpPr>
          <p:cNvPr id="12" name="Proposed system points"/>
          <p:cNvSpPr txBox="1"/>
          <p:nvPr/>
        </p:nvSpPr>
        <p:spPr>
          <a:xfrm>
            <a:off x="6519672" y="2331720"/>
            <a:ext cx="4937760" cy="265176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Student, faculty and course data stored in linked tables</a:t>
            </a:r>
            <a:endParaRPr lang="en-US" sz="1800" dirty="0"/>
          </a:p>
          <a:p>
            <a:pPr marL="342900" indent="-342900">
              <a:spcAft>
                <a:spcPts val="1600"/>
              </a:spcAft>
              <a:buSzPct val="100000"/>
              <a:buChar char="•"/>
            </a:pPr>
            <a:r>
              <a:rPr lang="en-US" sz="1800" dirty="0">
                <a:solidFill>
                  <a:schemeClr val="tx1"/>
                </a:solidFill>
              </a:rPr>
              <a:t>Constraints block duplicate and invalid entries</a:t>
            </a:r>
            <a:endParaRPr lang="en-US" sz="1800" dirty="0"/>
          </a:p>
          <a:p>
            <a:pPr marL="342900" indent="-342900">
              <a:spcAft>
                <a:spcPts val="1600"/>
              </a:spcAft>
              <a:buSzPct val="100000"/>
              <a:buChar char="•"/>
            </a:pPr>
            <a:r>
              <a:rPr lang="en-US" sz="1800" dirty="0">
                <a:solidFill>
                  <a:schemeClr val="tx1"/>
                </a:solidFill>
              </a:rPr>
              <a:t>SQL calculates attendance percentage instantly</a:t>
            </a:r>
            <a:endParaRPr lang="en-US" sz="1800" dirty="0"/>
          </a:p>
          <a:p>
            <a:pPr marL="342900" indent="-342900">
              <a:spcAft>
                <a:spcPts val="1600"/>
              </a:spcAft>
              <a:buSzPct val="100000"/>
              <a:buChar char="•"/>
            </a:pPr>
            <a:r>
              <a:rPr lang="en-US" sz="1800" dirty="0">
                <a:solidFill>
                  <a:schemeClr val="tx1"/>
                </a:solidFill>
              </a:rPr>
              <a:t>Ready reports: below 75%, daily absentees, course summary</a:t>
            </a:r>
            <a:endParaRPr lang="en-US" sz="1800" dirty="0"/>
          </a:p>
        </p:txBody>
      </p:sp>
      <p:sp>
        <p:nvSpPr>
          <p:cNvPr id="13" name="Need statement"/>
          <p:cNvSpPr/>
          <p:nvPr/>
        </p:nvSpPr>
        <p:spPr>
          <a:xfrm>
            <a:off x="457200" y="5440680"/>
            <a:ext cx="11274552" cy="777240"/>
          </a:xfrm>
          <a:prstGeom prst="roundRect">
            <a:avLst>
              <a:gd name="adj" fmla="val 9412"/>
            </a:avLst>
          </a:prstGeom>
          <a:solidFill>
            <a:schemeClr val="accent1"/>
          </a:solidFill>
          <a:ln/>
        </p:spPr>
      </p:sp>
      <p:sp>
        <p:nvSpPr>
          <p:cNvPr id="14" name="Need statement text"/>
          <p:cNvSpPr txBox="1"/>
          <p:nvPr/>
        </p:nvSpPr>
        <p:spPr>
          <a:xfrm>
            <a:off x="731520" y="5440680"/>
            <a:ext cx="10698480" cy="777240"/>
          </a:xfrm>
          <a:prstGeom prst="rect">
            <a:avLst/>
          </a:prstGeom>
          <a:noFill/>
          <a:ln/>
        </p:spPr>
        <p:txBody>
          <a:bodyPr wrap="square" lIns="0" tIns="0" rIns="0" bIns="0" rtlCol="0" anchor="ctr"/>
          <a:lstStyle/>
          <a:p>
            <a:pPr marL="0" indent="0">
              <a:buNone/>
            </a:pPr>
            <a:r>
              <a:rPr lang="en-US" sz="1800" b="1" dirty="0">
                <a:solidFill>
                  <a:schemeClr val="bg1"/>
                </a:solidFill>
              </a:rPr>
              <a:t>Need: </a:t>
            </a:r>
            <a:r>
              <a:rPr lang="en-US" sz="1800" dirty="0">
                <a:solidFill>
                  <a:schemeClr val="bg1"/>
                </a:solidFill>
              </a:rPr>
              <a:t>an automated, consistent attendance database that saves faculty time and flags low attendance early.</a:t>
            </a:r>
            <a:endParaRPr lang="en-US" sz="1800" dirty="0"/>
          </a:p>
        </p:txBody>
      </p:sp>
      <p:sp>
        <p:nvSpPr>
          <p:cNvPr id="25"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System Objectives &amp; Requirements</a:t>
            </a:r>
            <a:endParaRPr lang="en-US" sz="3400" dirty="0"/>
          </a:p>
        </p:txBody>
      </p:sp>
      <p:sp>
        <p:nvSpPr>
          <p:cNvPr id="3" name="Objectives heading"/>
          <p:cNvSpPr txBox="1"/>
          <p:nvPr/>
        </p:nvSpPr>
        <p:spPr>
          <a:xfrm>
            <a:off x="457200" y="1280160"/>
            <a:ext cx="5394960" cy="365760"/>
          </a:xfrm>
          <a:prstGeom prst="rect">
            <a:avLst/>
          </a:prstGeom>
          <a:noFill/>
          <a:ln/>
        </p:spPr>
        <p:txBody>
          <a:bodyPr wrap="square" lIns="0" tIns="0" rIns="0" bIns="0" rtlCol="0" anchor="t"/>
          <a:lstStyle/>
          <a:p>
            <a:pPr marL="0" indent="0">
              <a:buNone/>
            </a:pPr>
            <a:r>
              <a:rPr lang="en-US" sz="2000" b="1" dirty="0">
                <a:solidFill>
                  <a:schemeClr val="accent1"/>
                </a:solidFill>
              </a:rPr>
              <a:t>Core objectives</a:t>
            </a:r>
            <a:endParaRPr lang="en-US" sz="2000" dirty="0"/>
          </a:p>
        </p:txBody>
      </p:sp>
      <p:sp>
        <p:nvSpPr>
          <p:cNvPr id="4" name="Store records circle"/>
          <p:cNvSpPr/>
          <p:nvPr/>
        </p:nvSpPr>
        <p:spPr>
          <a:xfrm>
            <a:off x="457200" y="1874520"/>
            <a:ext cx="566928" cy="566928"/>
          </a:xfrm>
          <a:prstGeom prst="ellipse">
            <a:avLst/>
          </a:prstGeom>
          <a:solidFill>
            <a:schemeClr val="accent1"/>
          </a:solidFill>
          <a:ln/>
        </p:spPr>
      </p:sp>
      <p:pic>
        <p:nvPicPr>
          <p:cNvPr id="5" name="Store records icon" descr="Store records"/>
          <p:cNvPicPr>
            <a:picLocks noChangeAspect="1"/>
          </p:cNvPicPr>
          <p:nvPr/>
        </p:nvPicPr>
        <p:blipFill>
          <a:blip r:embed="rId3"/>
          <a:stretch>
            <a:fillRect/>
          </a:stretch>
        </p:blipFill>
        <p:spPr>
          <a:xfrm>
            <a:off x="610271" y="2027591"/>
            <a:ext cx="260787" cy="260787"/>
          </a:xfrm>
          <a:prstGeom prst="rect">
            <a:avLst/>
          </a:prstGeom>
        </p:spPr>
      </p:pic>
      <p:sp>
        <p:nvSpPr>
          <p:cNvPr id="6" name="Store records text"/>
          <p:cNvSpPr txBox="1"/>
          <p:nvPr/>
        </p:nvSpPr>
        <p:spPr>
          <a:xfrm>
            <a:off x="1188720" y="1801368"/>
            <a:ext cx="4663440" cy="731520"/>
          </a:xfrm>
          <a:prstGeom prst="rect">
            <a:avLst/>
          </a:prstGeom>
          <a:noFill/>
          <a:ln/>
        </p:spPr>
        <p:txBody>
          <a:bodyPr wrap="square" lIns="0" tIns="0" rIns="0" bIns="0" rtlCol="0" anchor="ctr"/>
          <a:lstStyle/>
          <a:p>
            <a:pPr marL="0" indent="0">
              <a:buNone/>
            </a:pPr>
            <a:r>
              <a:rPr lang="en-US" sz="1600" b="1" dirty="0">
                <a:solidFill>
                  <a:schemeClr val="tx1"/>
                </a:solidFill>
              </a:rPr>
              <a:t>Store records</a:t>
            </a:r>
            <a:endParaRPr lang="en-US" sz="1600" dirty="0"/>
          </a:p>
          <a:p>
            <a:pPr marL="0" indent="0">
              <a:buNone/>
            </a:pPr>
            <a:r>
              <a:rPr lang="en-US" sz="1400" dirty="0">
                <a:solidFill>
                  <a:schemeClr val="tx1"/>
                </a:solidFill>
              </a:rPr>
              <a:t>Student, faculty and course details in related tables</a:t>
            </a:r>
            <a:endParaRPr lang="en-US" sz="1600" dirty="0"/>
          </a:p>
        </p:txBody>
      </p:sp>
      <p:sp>
        <p:nvSpPr>
          <p:cNvPr id="7" name="Record attendance circle"/>
          <p:cNvSpPr/>
          <p:nvPr/>
        </p:nvSpPr>
        <p:spPr>
          <a:xfrm>
            <a:off x="457200" y="2761488"/>
            <a:ext cx="566928" cy="566928"/>
          </a:xfrm>
          <a:prstGeom prst="ellipse">
            <a:avLst/>
          </a:prstGeom>
          <a:solidFill>
            <a:schemeClr val="accent1"/>
          </a:solidFill>
          <a:ln/>
        </p:spPr>
      </p:sp>
      <p:pic>
        <p:nvPicPr>
          <p:cNvPr id="8" name="Record attendance icon" descr="Record attendance"/>
          <p:cNvPicPr>
            <a:picLocks noChangeAspect="1"/>
          </p:cNvPicPr>
          <p:nvPr/>
        </p:nvPicPr>
        <p:blipFill>
          <a:blip r:embed="rId4"/>
          <a:stretch>
            <a:fillRect/>
          </a:stretch>
        </p:blipFill>
        <p:spPr>
          <a:xfrm>
            <a:off x="610271" y="2914559"/>
            <a:ext cx="260787" cy="260787"/>
          </a:xfrm>
          <a:prstGeom prst="rect">
            <a:avLst/>
          </a:prstGeom>
        </p:spPr>
      </p:pic>
      <p:sp>
        <p:nvSpPr>
          <p:cNvPr id="9" name="Record attendance text"/>
          <p:cNvSpPr txBox="1"/>
          <p:nvPr/>
        </p:nvSpPr>
        <p:spPr>
          <a:xfrm>
            <a:off x="1188720" y="2688336"/>
            <a:ext cx="4663440" cy="731520"/>
          </a:xfrm>
          <a:prstGeom prst="rect">
            <a:avLst/>
          </a:prstGeom>
          <a:noFill/>
          <a:ln/>
        </p:spPr>
        <p:txBody>
          <a:bodyPr wrap="square" lIns="0" tIns="0" rIns="0" bIns="0" rtlCol="0" anchor="ctr"/>
          <a:lstStyle/>
          <a:p>
            <a:pPr marL="0" indent="0">
              <a:buNone/>
            </a:pPr>
            <a:r>
              <a:rPr lang="en-US" sz="1600" b="1" dirty="0">
                <a:solidFill>
                  <a:schemeClr val="tx1"/>
                </a:solidFill>
              </a:rPr>
              <a:t>Record attendance</a:t>
            </a:r>
            <a:endParaRPr lang="en-US" sz="1600" dirty="0"/>
          </a:p>
          <a:p>
            <a:pPr marL="0" indent="0">
              <a:buNone/>
            </a:pPr>
            <a:r>
              <a:rPr lang="en-US" sz="1400" dirty="0">
                <a:solidFill>
                  <a:schemeClr val="tx1"/>
                </a:solidFill>
              </a:rPr>
              <a:t>Daily Present / Absent entry for every course</a:t>
            </a:r>
            <a:endParaRPr lang="en-US" sz="1600" dirty="0"/>
          </a:p>
        </p:txBody>
      </p:sp>
      <p:sp>
        <p:nvSpPr>
          <p:cNvPr id="10" name="Calculate percentage circle"/>
          <p:cNvSpPr/>
          <p:nvPr/>
        </p:nvSpPr>
        <p:spPr>
          <a:xfrm>
            <a:off x="457200" y="3648456"/>
            <a:ext cx="566928" cy="566928"/>
          </a:xfrm>
          <a:prstGeom prst="ellipse">
            <a:avLst/>
          </a:prstGeom>
          <a:solidFill>
            <a:schemeClr val="accent1"/>
          </a:solidFill>
          <a:ln/>
        </p:spPr>
      </p:sp>
      <p:pic>
        <p:nvPicPr>
          <p:cNvPr id="11" name="Calculate percentage icon" descr="Calculate percentage"/>
          <p:cNvPicPr>
            <a:picLocks noChangeAspect="1"/>
          </p:cNvPicPr>
          <p:nvPr/>
        </p:nvPicPr>
        <p:blipFill>
          <a:blip r:embed="rId5"/>
          <a:stretch>
            <a:fillRect/>
          </a:stretch>
        </p:blipFill>
        <p:spPr>
          <a:xfrm>
            <a:off x="610271" y="3801527"/>
            <a:ext cx="260787" cy="260787"/>
          </a:xfrm>
          <a:prstGeom prst="rect">
            <a:avLst/>
          </a:prstGeom>
        </p:spPr>
      </p:pic>
      <p:sp>
        <p:nvSpPr>
          <p:cNvPr id="12" name="Calculate percentage text"/>
          <p:cNvSpPr txBox="1"/>
          <p:nvPr/>
        </p:nvSpPr>
        <p:spPr>
          <a:xfrm>
            <a:off x="1188720" y="3575304"/>
            <a:ext cx="4663440" cy="731520"/>
          </a:xfrm>
          <a:prstGeom prst="rect">
            <a:avLst/>
          </a:prstGeom>
          <a:noFill/>
          <a:ln/>
        </p:spPr>
        <p:txBody>
          <a:bodyPr wrap="square" lIns="0" tIns="0" rIns="0" bIns="0" rtlCol="0" anchor="ctr"/>
          <a:lstStyle/>
          <a:p>
            <a:pPr marL="0" indent="0">
              <a:buNone/>
            </a:pPr>
            <a:r>
              <a:rPr lang="en-US" sz="1600" b="1" dirty="0">
                <a:solidFill>
                  <a:schemeClr val="tx1"/>
                </a:solidFill>
              </a:rPr>
              <a:t>Calculate percentage</a:t>
            </a:r>
            <a:endParaRPr lang="en-US" sz="1600" dirty="0"/>
          </a:p>
          <a:p>
            <a:pPr marL="0" indent="0">
              <a:buNone/>
            </a:pPr>
            <a:r>
              <a:rPr lang="en-US" sz="1400" dirty="0">
                <a:solidFill>
                  <a:schemeClr val="tx1"/>
                </a:solidFill>
              </a:rPr>
              <a:t>Per student and per course, automatically</a:t>
            </a:r>
            <a:endParaRPr lang="en-US" sz="1600" dirty="0"/>
          </a:p>
        </p:txBody>
      </p:sp>
      <p:sp>
        <p:nvSpPr>
          <p:cNvPr id="13" name="Flag defaulters circle"/>
          <p:cNvSpPr/>
          <p:nvPr/>
        </p:nvSpPr>
        <p:spPr>
          <a:xfrm>
            <a:off x="457200" y="4535424"/>
            <a:ext cx="566928" cy="566928"/>
          </a:xfrm>
          <a:prstGeom prst="ellipse">
            <a:avLst/>
          </a:prstGeom>
          <a:solidFill>
            <a:schemeClr val="accent1"/>
          </a:solidFill>
          <a:ln/>
        </p:spPr>
      </p:sp>
      <p:pic>
        <p:nvPicPr>
          <p:cNvPr id="14" name="Flag defaulters icon" descr="Flag defaulters"/>
          <p:cNvPicPr>
            <a:picLocks noChangeAspect="1"/>
          </p:cNvPicPr>
          <p:nvPr/>
        </p:nvPicPr>
        <p:blipFill>
          <a:blip r:embed="rId6"/>
          <a:stretch>
            <a:fillRect/>
          </a:stretch>
        </p:blipFill>
        <p:spPr>
          <a:xfrm>
            <a:off x="610271" y="4688495"/>
            <a:ext cx="260787" cy="260787"/>
          </a:xfrm>
          <a:prstGeom prst="rect">
            <a:avLst/>
          </a:prstGeom>
        </p:spPr>
      </p:pic>
      <p:sp>
        <p:nvSpPr>
          <p:cNvPr id="15" name="Flag defaulters text"/>
          <p:cNvSpPr txBox="1"/>
          <p:nvPr/>
        </p:nvSpPr>
        <p:spPr>
          <a:xfrm>
            <a:off x="1188720" y="4462272"/>
            <a:ext cx="4663440" cy="731520"/>
          </a:xfrm>
          <a:prstGeom prst="rect">
            <a:avLst/>
          </a:prstGeom>
          <a:noFill/>
          <a:ln/>
        </p:spPr>
        <p:txBody>
          <a:bodyPr wrap="square" lIns="0" tIns="0" rIns="0" bIns="0" rtlCol="0" anchor="ctr"/>
          <a:lstStyle/>
          <a:p>
            <a:pPr marL="0" indent="0">
              <a:buNone/>
            </a:pPr>
            <a:r>
              <a:rPr lang="en-US" sz="1600" b="1" dirty="0">
                <a:solidFill>
                  <a:schemeClr val="tx1"/>
                </a:solidFill>
              </a:rPr>
              <a:t>Flag defaulters</a:t>
            </a:r>
            <a:endParaRPr lang="en-US" sz="1600" dirty="0"/>
          </a:p>
          <a:p>
            <a:pPr marL="0" indent="0">
              <a:buNone/>
            </a:pPr>
            <a:r>
              <a:rPr lang="en-US" sz="1400" dirty="0">
                <a:solidFill>
                  <a:schemeClr val="tx1"/>
                </a:solidFill>
              </a:rPr>
              <a:t>Students below the 75% requirement</a:t>
            </a:r>
            <a:endParaRPr lang="en-US" sz="1600" dirty="0"/>
          </a:p>
        </p:txBody>
      </p:sp>
      <p:sp>
        <p:nvSpPr>
          <p:cNvPr id="16" name="Keep data valid circle"/>
          <p:cNvSpPr/>
          <p:nvPr/>
        </p:nvSpPr>
        <p:spPr>
          <a:xfrm>
            <a:off x="457200" y="5422392"/>
            <a:ext cx="566928" cy="566928"/>
          </a:xfrm>
          <a:prstGeom prst="ellipse">
            <a:avLst/>
          </a:prstGeom>
          <a:solidFill>
            <a:schemeClr val="accent1"/>
          </a:solidFill>
          <a:ln/>
        </p:spPr>
      </p:sp>
      <p:pic>
        <p:nvPicPr>
          <p:cNvPr id="17" name="Keep data valid icon" descr="Keep data valid"/>
          <p:cNvPicPr>
            <a:picLocks noChangeAspect="1"/>
          </p:cNvPicPr>
          <p:nvPr/>
        </p:nvPicPr>
        <p:blipFill>
          <a:blip r:embed="rId7"/>
          <a:stretch>
            <a:fillRect/>
          </a:stretch>
        </p:blipFill>
        <p:spPr>
          <a:xfrm>
            <a:off x="610271" y="5575463"/>
            <a:ext cx="260787" cy="260787"/>
          </a:xfrm>
          <a:prstGeom prst="rect">
            <a:avLst/>
          </a:prstGeom>
        </p:spPr>
      </p:pic>
      <p:sp>
        <p:nvSpPr>
          <p:cNvPr id="18" name="Keep data valid text"/>
          <p:cNvSpPr txBox="1"/>
          <p:nvPr/>
        </p:nvSpPr>
        <p:spPr>
          <a:xfrm>
            <a:off x="1188720" y="5349240"/>
            <a:ext cx="4663440" cy="731520"/>
          </a:xfrm>
          <a:prstGeom prst="rect">
            <a:avLst/>
          </a:prstGeom>
          <a:noFill/>
          <a:ln/>
        </p:spPr>
        <p:txBody>
          <a:bodyPr wrap="square" lIns="0" tIns="0" rIns="0" bIns="0" rtlCol="0" anchor="ctr"/>
          <a:lstStyle/>
          <a:p>
            <a:pPr marL="0" indent="0">
              <a:buNone/>
            </a:pPr>
            <a:r>
              <a:rPr lang="en-US" sz="1600" b="1" dirty="0">
                <a:solidFill>
                  <a:schemeClr val="tx1"/>
                </a:solidFill>
              </a:rPr>
              <a:t>Keep data valid</a:t>
            </a:r>
            <a:endParaRPr lang="en-US" sz="1600" dirty="0"/>
          </a:p>
          <a:p>
            <a:pPr marL="0" indent="0">
              <a:buNone/>
            </a:pPr>
            <a:r>
              <a:rPr lang="en-US" sz="1400" dirty="0">
                <a:solidFill>
                  <a:schemeClr val="tx1"/>
                </a:solidFill>
              </a:rPr>
              <a:t>Keys and constraints stop duplicates and bad values</a:t>
            </a:r>
            <a:endParaRPr lang="en-US" sz="1600" dirty="0"/>
          </a:p>
        </p:txBody>
      </p:sp>
      <p:sp>
        <p:nvSpPr>
          <p:cNvPr id="19" name="Requirements heading"/>
          <p:cNvSpPr txBox="1"/>
          <p:nvPr/>
        </p:nvSpPr>
        <p:spPr>
          <a:xfrm>
            <a:off x="6309360" y="1280160"/>
            <a:ext cx="5422392" cy="365760"/>
          </a:xfrm>
          <a:prstGeom prst="rect">
            <a:avLst/>
          </a:prstGeom>
          <a:noFill/>
          <a:ln/>
        </p:spPr>
        <p:txBody>
          <a:bodyPr wrap="square" lIns="0" tIns="0" rIns="0" bIns="0" rtlCol="0" anchor="t"/>
          <a:lstStyle/>
          <a:p>
            <a:pPr marL="0" indent="0">
              <a:buNone/>
            </a:pPr>
            <a:r>
              <a:rPr lang="en-US" sz="2000" b="1" dirty="0">
                <a:solidFill>
                  <a:schemeClr val="accent1"/>
                </a:solidFill>
              </a:rPr>
              <a:t>System requirements</a:t>
            </a:r>
            <a:endParaRPr lang="en-US" sz="2000" dirty="0"/>
          </a:p>
        </p:txBody>
      </p:sp>
      <p:graphicFrame>
        <p:nvGraphicFramePr>
          <p:cNvPr id="20" name="Requirements table"/>
          <p:cNvGraphicFramePr>
            <a:graphicFrameLocks noGrp="1"/>
          </p:cNvGraphicFramePr>
          <p:nvPr>
            <p:extLst>
              <p:ext uri="{D42A27DB-BD31-4B8C-83A1-F6EECF244321}">
                <p14:modId xmlns:p14="http://schemas.microsoft.com/office/powerpoint/2010/main" val="1579011935"/>
              </p:ext>
            </p:extLst>
          </p:nvPr>
        </p:nvGraphicFramePr>
        <p:xfrm>
          <a:off x="6309360" y="1783080"/>
          <a:ext cx="5422392" cy="3968496"/>
        </p:xfrm>
        <a:graphic>
          <a:graphicData uri="http://schemas.openxmlformats.org/drawingml/2006/table">
            <a:tbl>
              <a:tblPr/>
              <a:tblGrid>
                <a:gridCol w="1554480">
                  <a:extLst>
                    <a:ext uri="{9D8B030D-6E8A-4147-A177-3AD203B41FA5}">
                      <a16:colId xmlns:a16="http://schemas.microsoft.com/office/drawing/2014/main" val="20000"/>
                    </a:ext>
                  </a:extLst>
                </a:gridCol>
                <a:gridCol w="3867912">
                  <a:extLst>
                    <a:ext uri="{9D8B030D-6E8A-4147-A177-3AD203B41FA5}">
                      <a16:colId xmlns:a16="http://schemas.microsoft.com/office/drawing/2014/main" val="20001"/>
                    </a:ext>
                  </a:extLst>
                </a:gridCol>
              </a:tblGrid>
              <a:tr h="566928">
                <a:tc>
                  <a:txBody>
                    <a:bodyPr/>
                    <a:lstStyle/>
                    <a:p>
                      <a:pPr marL="0" indent="0">
                        <a:buNone/>
                      </a:pPr>
                      <a:r>
                        <a:rPr lang="en-US" sz="1400" b="1" dirty="0">
                          <a:solidFill>
                            <a:schemeClr val="bg1"/>
                          </a:solidFill>
                        </a:rPr>
                        <a:t>Component</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Requirement</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1"/>
                          </a:solidFill>
                        </a:rPr>
                        <a:t>Hardware</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Standard desktop or laptop</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1"/>
                          </a:solidFill>
                        </a:rPr>
                        <a:t>Database</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SQLite (local database file)</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1"/>
                          </a:solidFill>
                        </a:rPr>
                        <a:t>Language</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Python 3</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1"/>
                          </a:solidFill>
                        </a:rPr>
                        <a:t>Interfaces</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CLI, Tkinter desktop GUI, Browser (HTML / JS)</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chemeClr val="tx1"/>
                          </a:solidFill>
                        </a:rPr>
                        <a:t>SQL files</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schema.sql, sample_data.sql, queries.sql</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chemeClr val="tx1"/>
                          </a:solidFill>
                        </a:rPr>
                        <a:t>Editor</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Visual Studio Code</a:t>
                      </a:r>
                      <a:endParaRPr lang="en-US" sz="1400" dirty="0"/>
                    </a:p>
                  </a:txBody>
                  <a:tcPr marL="109728" marR="109728" marT="0" marB="0" anchor="ctr">
                    <a:lnL w="9525" cap="flat" cmpd="sng" algn="ctr">
                      <a:solidFill>
                        <a:srgbClr val="D3DDE9"/>
                      </a:solidFill>
                      <a:prstDash val="solid"/>
                      <a:round/>
                      <a:headEnd type="none" w="med" len="med"/>
                      <a:tailEnd type="none" w="med" len="med"/>
                    </a:lnL>
                    <a:lnR w="9525" cap="flat" cmpd="sng" algn="ctr">
                      <a:solidFill>
                        <a:srgbClr val="D3DDE9"/>
                      </a:solidFill>
                      <a:prstDash val="solid"/>
                      <a:round/>
                      <a:headEnd type="none" w="med" len="med"/>
                      <a:tailEnd type="none" w="med" len="med"/>
                    </a:lnR>
                    <a:lnT w="9525" cap="flat" cmpd="sng" algn="ctr">
                      <a:solidFill>
                        <a:srgbClr val="D3DDE9"/>
                      </a:solidFill>
                      <a:prstDash val="solid"/>
                      <a:round/>
                      <a:headEnd type="none" w="med" len="med"/>
                      <a:tailEnd type="none" w="med" len="med"/>
                    </a:lnT>
                    <a:lnB w="9525" cap="flat" cmpd="sng" algn="ctr">
                      <a:solidFill>
                        <a:srgbClr val="D3DDE9"/>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System Architecture / Flowchart</a:t>
            </a:r>
            <a:endParaRPr lang="en-US" sz="3400" dirty="0"/>
          </a:p>
        </p:txBody>
      </p:sp>
      <p:sp>
        <p:nvSpPr>
          <p:cNvPr id="3" name="Users card"/>
          <p:cNvSpPr/>
          <p:nvPr/>
        </p:nvSpPr>
        <p:spPr>
          <a:xfrm>
            <a:off x="457200" y="1417320"/>
            <a:ext cx="2514600" cy="3611880"/>
          </a:xfrm>
          <a:prstGeom prst="roundRect">
            <a:avLst>
              <a:gd name="adj" fmla="val 2909"/>
            </a:avLst>
          </a:prstGeom>
          <a:solidFill>
            <a:schemeClr val="bg2"/>
          </a:solidFill>
          <a:ln/>
        </p:spPr>
      </p:sp>
      <p:sp>
        <p:nvSpPr>
          <p:cNvPr id="4" name="Users circle"/>
          <p:cNvSpPr/>
          <p:nvPr/>
        </p:nvSpPr>
        <p:spPr>
          <a:xfrm>
            <a:off x="1371600" y="1600200"/>
            <a:ext cx="685800" cy="685800"/>
          </a:xfrm>
          <a:prstGeom prst="ellipse">
            <a:avLst/>
          </a:prstGeom>
          <a:solidFill>
            <a:schemeClr val="accent1"/>
          </a:solidFill>
          <a:ln/>
        </p:spPr>
      </p:sp>
      <p:pic>
        <p:nvPicPr>
          <p:cNvPr id="5" name="Users icon" descr="Users"/>
          <p:cNvPicPr>
            <a:picLocks noChangeAspect="1"/>
          </p:cNvPicPr>
          <p:nvPr/>
        </p:nvPicPr>
        <p:blipFill>
          <a:blip r:embed="rId3"/>
          <a:stretch>
            <a:fillRect/>
          </a:stretch>
        </p:blipFill>
        <p:spPr>
          <a:xfrm>
            <a:off x="1556766" y="1785366"/>
            <a:ext cx="315468" cy="315468"/>
          </a:xfrm>
          <a:prstGeom prst="rect">
            <a:avLst/>
          </a:prstGeom>
        </p:spPr>
      </p:pic>
      <p:sp>
        <p:nvSpPr>
          <p:cNvPr id="6" name="Users title"/>
          <p:cNvSpPr txBox="1"/>
          <p:nvPr/>
        </p:nvSpPr>
        <p:spPr>
          <a:xfrm>
            <a:off x="594360" y="2377440"/>
            <a:ext cx="2240280" cy="411480"/>
          </a:xfrm>
          <a:prstGeom prst="rect">
            <a:avLst/>
          </a:prstGeom>
          <a:noFill/>
          <a:ln/>
        </p:spPr>
        <p:txBody>
          <a:bodyPr wrap="square" lIns="0" tIns="0" rIns="0" bIns="0" rtlCol="0" anchor="ctr"/>
          <a:lstStyle/>
          <a:p>
            <a:pPr marL="0" indent="0" algn="ctr">
              <a:buNone/>
            </a:pPr>
            <a:r>
              <a:rPr lang="en-US" sz="1800" b="1" dirty="0">
                <a:solidFill>
                  <a:schemeClr val="accent1"/>
                </a:solidFill>
              </a:rPr>
              <a:t>Users</a:t>
            </a:r>
            <a:endParaRPr lang="en-US" sz="1800" dirty="0"/>
          </a:p>
        </p:txBody>
      </p:sp>
      <p:sp>
        <p:nvSpPr>
          <p:cNvPr id="7" name="Users points"/>
          <p:cNvSpPr txBox="1"/>
          <p:nvPr/>
        </p:nvSpPr>
        <p:spPr>
          <a:xfrm>
            <a:off x="685800" y="2926080"/>
            <a:ext cx="210312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Faculty / Admin</a:t>
            </a:r>
            <a:endParaRPr lang="en-US" sz="1500" dirty="0"/>
          </a:p>
          <a:p>
            <a:pPr marL="342900" indent="-342900">
              <a:spcAft>
                <a:spcPts val="800"/>
              </a:spcAft>
              <a:buSzPct val="100000"/>
              <a:buChar char="•"/>
            </a:pPr>
            <a:r>
              <a:rPr lang="en-US" sz="1500" dirty="0">
                <a:solidFill>
                  <a:schemeClr val="tx1"/>
                </a:solidFill>
              </a:rPr>
              <a:t>Mark daily attendance</a:t>
            </a:r>
            <a:endParaRPr lang="en-US" sz="1500" dirty="0"/>
          </a:p>
          <a:p>
            <a:pPr marL="342900" indent="-342900">
              <a:spcAft>
                <a:spcPts val="800"/>
              </a:spcAft>
              <a:buSzPct val="100000"/>
              <a:buChar char="•"/>
            </a:pPr>
            <a:r>
              <a:rPr lang="en-US" sz="1500" dirty="0">
                <a:solidFill>
                  <a:schemeClr val="tx1"/>
                </a:solidFill>
              </a:rPr>
              <a:t>View attendance reports</a:t>
            </a:r>
            <a:endParaRPr lang="en-US" sz="1500" dirty="0"/>
          </a:p>
        </p:txBody>
      </p:sp>
      <p:sp>
        <p:nvSpPr>
          <p:cNvPr id="8" name="Arrow 1"/>
          <p:cNvSpPr/>
          <p:nvPr/>
        </p:nvSpPr>
        <p:spPr>
          <a:xfrm>
            <a:off x="3026664" y="3017520"/>
            <a:ext cx="301752" cy="365760"/>
          </a:xfrm>
          <a:prstGeom prst="rightArrow">
            <a:avLst/>
          </a:prstGeom>
          <a:solidFill>
            <a:schemeClr val="accent2"/>
          </a:solidFill>
          <a:ln/>
        </p:spPr>
      </p:sp>
      <p:sp>
        <p:nvSpPr>
          <p:cNvPr id="9" name="Interface Layer card"/>
          <p:cNvSpPr/>
          <p:nvPr/>
        </p:nvSpPr>
        <p:spPr>
          <a:xfrm>
            <a:off x="3376879" y="1417320"/>
            <a:ext cx="2514600" cy="3611880"/>
          </a:xfrm>
          <a:prstGeom prst="roundRect">
            <a:avLst>
              <a:gd name="adj" fmla="val 2909"/>
            </a:avLst>
          </a:prstGeom>
          <a:solidFill>
            <a:schemeClr val="bg2"/>
          </a:solidFill>
          <a:ln/>
        </p:spPr>
      </p:sp>
      <p:sp>
        <p:nvSpPr>
          <p:cNvPr id="10" name="Interface Layer circle"/>
          <p:cNvSpPr/>
          <p:nvPr/>
        </p:nvSpPr>
        <p:spPr>
          <a:xfrm>
            <a:off x="4291279" y="1600200"/>
            <a:ext cx="685800" cy="685800"/>
          </a:xfrm>
          <a:prstGeom prst="ellipse">
            <a:avLst/>
          </a:prstGeom>
          <a:solidFill>
            <a:schemeClr val="accent1"/>
          </a:solidFill>
          <a:ln/>
        </p:spPr>
      </p:sp>
      <p:pic>
        <p:nvPicPr>
          <p:cNvPr id="11" name="Interface Layer icon" descr="Interface Layer"/>
          <p:cNvPicPr>
            <a:picLocks noChangeAspect="1"/>
          </p:cNvPicPr>
          <p:nvPr/>
        </p:nvPicPr>
        <p:blipFill>
          <a:blip r:embed="rId4"/>
          <a:stretch>
            <a:fillRect/>
          </a:stretch>
        </p:blipFill>
        <p:spPr>
          <a:xfrm>
            <a:off x="4476445" y="1785366"/>
            <a:ext cx="315468" cy="315468"/>
          </a:xfrm>
          <a:prstGeom prst="rect">
            <a:avLst/>
          </a:prstGeom>
        </p:spPr>
      </p:pic>
      <p:sp>
        <p:nvSpPr>
          <p:cNvPr id="12" name="Interface Layer title"/>
          <p:cNvSpPr txBox="1"/>
          <p:nvPr/>
        </p:nvSpPr>
        <p:spPr>
          <a:xfrm>
            <a:off x="3514039" y="2377440"/>
            <a:ext cx="2240280" cy="411480"/>
          </a:xfrm>
          <a:prstGeom prst="rect">
            <a:avLst/>
          </a:prstGeom>
          <a:noFill/>
          <a:ln/>
        </p:spPr>
        <p:txBody>
          <a:bodyPr wrap="square" lIns="0" tIns="0" rIns="0" bIns="0" rtlCol="0" anchor="ctr"/>
          <a:lstStyle/>
          <a:p>
            <a:pPr marL="0" indent="0" algn="ctr">
              <a:buNone/>
            </a:pPr>
            <a:r>
              <a:rPr lang="en-US" sz="1800" b="1" dirty="0">
                <a:solidFill>
                  <a:schemeClr val="accent1"/>
                </a:solidFill>
              </a:rPr>
              <a:t>Interface Layer</a:t>
            </a:r>
            <a:endParaRPr lang="en-US" sz="1800" dirty="0"/>
          </a:p>
        </p:txBody>
      </p:sp>
      <p:sp>
        <p:nvSpPr>
          <p:cNvPr id="13" name="Interface Layer points"/>
          <p:cNvSpPr txBox="1"/>
          <p:nvPr/>
        </p:nvSpPr>
        <p:spPr>
          <a:xfrm>
            <a:off x="3605479" y="2926080"/>
            <a:ext cx="210312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CLI: main.py</a:t>
            </a:r>
            <a:endParaRPr lang="en-US" sz="1500" dirty="0"/>
          </a:p>
          <a:p>
            <a:pPr marL="342900" indent="-342900">
              <a:spcAft>
                <a:spcPts val="800"/>
              </a:spcAft>
              <a:buSzPct val="100000"/>
              <a:buChar char="•"/>
            </a:pPr>
            <a:r>
              <a:rPr lang="en-US" sz="1500" dirty="0">
                <a:solidFill>
                  <a:schemeClr val="tx1"/>
                </a:solidFill>
              </a:rPr>
              <a:t>Tkinter GUI: gui_app.py</a:t>
            </a:r>
            <a:endParaRPr lang="en-US" sz="1500" dirty="0"/>
          </a:p>
          <a:p>
            <a:pPr marL="342900" indent="-342900">
              <a:spcAft>
                <a:spcPts val="800"/>
              </a:spcAft>
              <a:buSzPct val="100000"/>
              <a:buChar char="•"/>
            </a:pPr>
            <a:r>
              <a:rPr lang="en-US" sz="1500" dirty="0">
                <a:solidFill>
                  <a:schemeClr val="tx1"/>
                </a:solidFill>
              </a:rPr>
              <a:t>Browser: attendance_app.html</a:t>
            </a:r>
            <a:endParaRPr lang="en-US" sz="1500" dirty="0"/>
          </a:p>
        </p:txBody>
      </p:sp>
      <p:sp>
        <p:nvSpPr>
          <p:cNvPr id="14" name="Arrow 2"/>
          <p:cNvSpPr/>
          <p:nvPr/>
        </p:nvSpPr>
        <p:spPr>
          <a:xfrm>
            <a:off x="5946343" y="3017520"/>
            <a:ext cx="301752" cy="365760"/>
          </a:xfrm>
          <a:prstGeom prst="rightArrow">
            <a:avLst/>
          </a:prstGeom>
          <a:solidFill>
            <a:schemeClr val="accent2"/>
          </a:solidFill>
          <a:ln/>
        </p:spPr>
      </p:sp>
      <p:sp>
        <p:nvSpPr>
          <p:cNvPr id="15" name="Application Logic card"/>
          <p:cNvSpPr/>
          <p:nvPr/>
        </p:nvSpPr>
        <p:spPr>
          <a:xfrm>
            <a:off x="6296558" y="1417320"/>
            <a:ext cx="2514600" cy="3611880"/>
          </a:xfrm>
          <a:prstGeom prst="roundRect">
            <a:avLst>
              <a:gd name="adj" fmla="val 2909"/>
            </a:avLst>
          </a:prstGeom>
          <a:solidFill>
            <a:schemeClr val="bg2"/>
          </a:solidFill>
          <a:ln/>
        </p:spPr>
      </p:sp>
      <p:sp>
        <p:nvSpPr>
          <p:cNvPr id="16" name="Application Logic circle"/>
          <p:cNvSpPr/>
          <p:nvPr/>
        </p:nvSpPr>
        <p:spPr>
          <a:xfrm>
            <a:off x="7210958" y="1600200"/>
            <a:ext cx="685800" cy="685800"/>
          </a:xfrm>
          <a:prstGeom prst="ellipse">
            <a:avLst/>
          </a:prstGeom>
          <a:solidFill>
            <a:schemeClr val="accent1"/>
          </a:solidFill>
          <a:ln/>
        </p:spPr>
      </p:sp>
      <p:pic>
        <p:nvPicPr>
          <p:cNvPr id="17" name="Application Logic icon" descr="Application Logic"/>
          <p:cNvPicPr>
            <a:picLocks noChangeAspect="1"/>
          </p:cNvPicPr>
          <p:nvPr/>
        </p:nvPicPr>
        <p:blipFill>
          <a:blip r:embed="rId5"/>
          <a:stretch>
            <a:fillRect/>
          </a:stretch>
        </p:blipFill>
        <p:spPr>
          <a:xfrm>
            <a:off x="7396124" y="1785366"/>
            <a:ext cx="315468" cy="315468"/>
          </a:xfrm>
          <a:prstGeom prst="rect">
            <a:avLst/>
          </a:prstGeom>
        </p:spPr>
      </p:pic>
      <p:sp>
        <p:nvSpPr>
          <p:cNvPr id="18" name="Application Logic title"/>
          <p:cNvSpPr txBox="1"/>
          <p:nvPr/>
        </p:nvSpPr>
        <p:spPr>
          <a:xfrm>
            <a:off x="6433718" y="2377440"/>
            <a:ext cx="2240280" cy="411480"/>
          </a:xfrm>
          <a:prstGeom prst="rect">
            <a:avLst/>
          </a:prstGeom>
          <a:noFill/>
          <a:ln/>
        </p:spPr>
        <p:txBody>
          <a:bodyPr wrap="square" lIns="0" tIns="0" rIns="0" bIns="0" rtlCol="0" anchor="ctr"/>
          <a:lstStyle/>
          <a:p>
            <a:pPr marL="0" indent="0" algn="ctr">
              <a:buNone/>
            </a:pPr>
            <a:r>
              <a:rPr lang="en-US" sz="1800" b="1" dirty="0">
                <a:solidFill>
                  <a:schemeClr val="accent1"/>
                </a:solidFill>
              </a:rPr>
              <a:t>Application Logic</a:t>
            </a:r>
            <a:endParaRPr lang="en-US" sz="1800" dirty="0"/>
          </a:p>
        </p:txBody>
      </p:sp>
      <p:sp>
        <p:nvSpPr>
          <p:cNvPr id="19" name="Application Logic points"/>
          <p:cNvSpPr txBox="1"/>
          <p:nvPr/>
        </p:nvSpPr>
        <p:spPr>
          <a:xfrm>
            <a:off x="6525158" y="2926080"/>
            <a:ext cx="210312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Python application code</a:t>
            </a:r>
            <a:endParaRPr lang="en-US" sz="1500" dirty="0"/>
          </a:p>
          <a:p>
            <a:pPr marL="342900" indent="-342900">
              <a:spcAft>
                <a:spcPts val="800"/>
              </a:spcAft>
              <a:buSzPct val="100000"/>
              <a:buChar char="•"/>
            </a:pPr>
            <a:r>
              <a:rPr lang="en-US" sz="1500" dirty="0">
                <a:solidFill>
                  <a:schemeClr val="tx1"/>
                </a:solidFill>
              </a:rPr>
              <a:t>75% / 65% criteria rules</a:t>
            </a:r>
            <a:endParaRPr lang="en-US" sz="1500" dirty="0"/>
          </a:p>
          <a:p>
            <a:pPr marL="342900" indent="-342900">
              <a:spcAft>
                <a:spcPts val="800"/>
              </a:spcAft>
              <a:buSzPct val="100000"/>
              <a:buChar char="•"/>
            </a:pPr>
            <a:r>
              <a:rPr lang="en-US" sz="1500" dirty="0">
                <a:solidFill>
                  <a:schemeClr val="tx1"/>
                </a:solidFill>
              </a:rPr>
              <a:t>SQL queries and joins</a:t>
            </a:r>
            <a:endParaRPr lang="en-US" sz="1500" dirty="0"/>
          </a:p>
        </p:txBody>
      </p:sp>
      <p:sp>
        <p:nvSpPr>
          <p:cNvPr id="20" name="Arrow 3"/>
          <p:cNvSpPr/>
          <p:nvPr/>
        </p:nvSpPr>
        <p:spPr>
          <a:xfrm>
            <a:off x="8866022" y="3017520"/>
            <a:ext cx="301752" cy="365760"/>
          </a:xfrm>
          <a:prstGeom prst="rightArrow">
            <a:avLst/>
          </a:prstGeom>
          <a:solidFill>
            <a:schemeClr val="accent2"/>
          </a:solidFill>
          <a:ln/>
        </p:spPr>
      </p:sp>
      <p:sp>
        <p:nvSpPr>
          <p:cNvPr id="21" name="Database Layer card"/>
          <p:cNvSpPr/>
          <p:nvPr/>
        </p:nvSpPr>
        <p:spPr>
          <a:xfrm>
            <a:off x="9216238" y="1417320"/>
            <a:ext cx="2514600" cy="3611880"/>
          </a:xfrm>
          <a:prstGeom prst="roundRect">
            <a:avLst>
              <a:gd name="adj" fmla="val 2909"/>
            </a:avLst>
          </a:prstGeom>
          <a:solidFill>
            <a:schemeClr val="bg2"/>
          </a:solidFill>
          <a:ln/>
        </p:spPr>
      </p:sp>
      <p:sp>
        <p:nvSpPr>
          <p:cNvPr id="22" name="Database Layer circle"/>
          <p:cNvSpPr/>
          <p:nvPr/>
        </p:nvSpPr>
        <p:spPr>
          <a:xfrm>
            <a:off x="10130638" y="1600200"/>
            <a:ext cx="685800" cy="685800"/>
          </a:xfrm>
          <a:prstGeom prst="ellipse">
            <a:avLst/>
          </a:prstGeom>
          <a:solidFill>
            <a:schemeClr val="accent1"/>
          </a:solidFill>
          <a:ln/>
        </p:spPr>
      </p:sp>
      <p:pic>
        <p:nvPicPr>
          <p:cNvPr id="23" name="Database Layer icon" descr="Database Layer"/>
          <p:cNvPicPr>
            <a:picLocks noChangeAspect="1"/>
          </p:cNvPicPr>
          <p:nvPr/>
        </p:nvPicPr>
        <p:blipFill>
          <a:blip r:embed="rId6"/>
          <a:stretch>
            <a:fillRect/>
          </a:stretch>
        </p:blipFill>
        <p:spPr>
          <a:xfrm>
            <a:off x="10315804" y="1785366"/>
            <a:ext cx="315468" cy="315468"/>
          </a:xfrm>
          <a:prstGeom prst="rect">
            <a:avLst/>
          </a:prstGeom>
        </p:spPr>
      </p:pic>
      <p:sp>
        <p:nvSpPr>
          <p:cNvPr id="24" name="Database Layer title"/>
          <p:cNvSpPr txBox="1"/>
          <p:nvPr/>
        </p:nvSpPr>
        <p:spPr>
          <a:xfrm>
            <a:off x="9353398" y="2377440"/>
            <a:ext cx="2240280" cy="411480"/>
          </a:xfrm>
          <a:prstGeom prst="rect">
            <a:avLst/>
          </a:prstGeom>
          <a:noFill/>
          <a:ln/>
        </p:spPr>
        <p:txBody>
          <a:bodyPr wrap="square" lIns="0" tIns="0" rIns="0" bIns="0" rtlCol="0" anchor="ctr"/>
          <a:lstStyle/>
          <a:p>
            <a:pPr marL="0" indent="0" algn="ctr">
              <a:buNone/>
            </a:pPr>
            <a:r>
              <a:rPr lang="en-US" sz="1800" b="1" dirty="0">
                <a:solidFill>
                  <a:schemeClr val="accent1"/>
                </a:solidFill>
              </a:rPr>
              <a:t>Database Layer</a:t>
            </a:r>
            <a:endParaRPr lang="en-US" sz="1800" dirty="0"/>
          </a:p>
        </p:txBody>
      </p:sp>
      <p:sp>
        <p:nvSpPr>
          <p:cNvPr id="25" name="Database Layer points"/>
          <p:cNvSpPr txBox="1"/>
          <p:nvPr/>
        </p:nvSpPr>
        <p:spPr>
          <a:xfrm>
            <a:off x="9444838" y="2926080"/>
            <a:ext cx="210312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SQLite database</a:t>
            </a:r>
            <a:endParaRPr lang="en-US" sz="1500" dirty="0"/>
          </a:p>
          <a:p>
            <a:pPr marL="342900" indent="-342900">
              <a:spcAft>
                <a:spcPts val="800"/>
              </a:spcAft>
              <a:buSzPct val="100000"/>
              <a:buChar char="•"/>
            </a:pPr>
            <a:r>
              <a:rPr lang="en-US" sz="1500" dirty="0">
                <a:solidFill>
                  <a:schemeClr val="tx1"/>
                </a:solidFill>
              </a:rPr>
              <a:t>Students, Faculty, Courses, Attendance_Logs</a:t>
            </a:r>
            <a:endParaRPr lang="en-US" sz="1500" dirty="0"/>
          </a:p>
          <a:p>
            <a:pPr marL="342900" indent="-342900">
              <a:spcAft>
                <a:spcPts val="800"/>
              </a:spcAft>
              <a:buSzPct val="100000"/>
              <a:buChar char="•"/>
            </a:pPr>
            <a:r>
              <a:rPr lang="en-US" sz="1500" dirty="0">
                <a:solidFill>
                  <a:schemeClr val="tx1"/>
                </a:solidFill>
              </a:rPr>
              <a:t>Attendance summary view</a:t>
            </a:r>
            <a:endParaRPr lang="en-US" sz="1500" dirty="0"/>
          </a:p>
        </p:txBody>
      </p:sp>
      <p:sp>
        <p:nvSpPr>
          <p:cNvPr id="26" name="Data flow bar"/>
          <p:cNvSpPr/>
          <p:nvPr/>
        </p:nvSpPr>
        <p:spPr>
          <a:xfrm>
            <a:off x="457200" y="5349240"/>
            <a:ext cx="11274552" cy="822960"/>
          </a:xfrm>
          <a:prstGeom prst="roundRect">
            <a:avLst>
              <a:gd name="adj" fmla="val 8889"/>
            </a:avLst>
          </a:prstGeom>
          <a:solidFill>
            <a:schemeClr val="accent1"/>
          </a:solidFill>
          <a:ln/>
        </p:spPr>
      </p:sp>
      <p:sp>
        <p:nvSpPr>
          <p:cNvPr id="27" name="Data flow text"/>
          <p:cNvSpPr txBox="1"/>
          <p:nvPr/>
        </p:nvSpPr>
        <p:spPr>
          <a:xfrm>
            <a:off x="731520" y="5349240"/>
            <a:ext cx="10698480" cy="822960"/>
          </a:xfrm>
          <a:prstGeom prst="rect">
            <a:avLst/>
          </a:prstGeom>
          <a:noFill/>
          <a:ln/>
        </p:spPr>
        <p:txBody>
          <a:bodyPr wrap="square" lIns="0" tIns="0" rIns="0" bIns="0" rtlCol="0" anchor="ctr"/>
          <a:lstStyle/>
          <a:p>
            <a:pPr marL="0" indent="0">
              <a:buNone/>
            </a:pPr>
            <a:r>
              <a:rPr lang="en-US" sz="1700" b="1" dirty="0">
                <a:solidFill>
                  <a:schemeClr val="bg1"/>
                </a:solidFill>
              </a:rPr>
              <a:t>Data flow: </a:t>
            </a:r>
            <a:r>
              <a:rPr lang="en-US" sz="1700" dirty="0">
                <a:solidFill>
                  <a:schemeClr val="bg1"/>
                </a:solidFill>
              </a:rPr>
              <a:t>faculty marks attendance  →  saved after constraint checks  →  view calculates %  →  report shown</a:t>
            </a:r>
            <a:endParaRPr lang="en-US" sz="1700" dirty="0"/>
          </a:p>
        </p:txBody>
      </p:sp>
      <p:sp>
        <p:nvSpPr>
          <p:cNvPr id="28"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Entity-Relationship (ER) Diagram</a:t>
            </a:r>
            <a:endParaRPr lang="en-US" sz="3400" dirty="0"/>
          </a:p>
        </p:txBody>
      </p:sp>
      <p:pic>
        <p:nvPicPr>
          <p:cNvPr id="3" name="ER diagram" descr="ER diagram of Students, Courses, Faculty and Attendance_Logs"/>
          <p:cNvPicPr>
            <a:picLocks noChangeAspect="1"/>
          </p:cNvPicPr>
          <p:nvPr/>
        </p:nvPicPr>
        <p:blipFill>
          <a:blip r:embed="rId3"/>
          <a:stretch>
            <a:fillRect/>
          </a:stretch>
        </p:blipFill>
        <p:spPr>
          <a:xfrm>
            <a:off x="457200" y="1371600"/>
            <a:ext cx="8138160" cy="4160475"/>
          </a:xfrm>
          <a:prstGeom prst="rect">
            <a:avLst/>
          </a:prstGeom>
        </p:spPr>
      </p:pic>
      <p:sp>
        <p:nvSpPr>
          <p:cNvPr id="4" name="Relationships heading"/>
          <p:cNvSpPr txBox="1"/>
          <p:nvPr/>
        </p:nvSpPr>
        <p:spPr>
          <a:xfrm>
            <a:off x="8869680" y="1325880"/>
            <a:ext cx="2862072" cy="365760"/>
          </a:xfrm>
          <a:prstGeom prst="rect">
            <a:avLst/>
          </a:prstGeom>
          <a:noFill/>
          <a:ln/>
        </p:spPr>
        <p:txBody>
          <a:bodyPr wrap="square" lIns="0" tIns="0" rIns="0" bIns="0" rtlCol="0" anchor="t"/>
          <a:lstStyle/>
          <a:p>
            <a:pPr marL="0" indent="0">
              <a:buNone/>
            </a:pPr>
            <a:r>
              <a:rPr lang="en-US" sz="1800" b="1" dirty="0">
                <a:solidFill>
                  <a:schemeClr val="accent1"/>
                </a:solidFill>
              </a:rPr>
              <a:t>Relationships &amp; cardinality</a:t>
            </a:r>
            <a:endParaRPr lang="en-US" sz="1800" dirty="0"/>
          </a:p>
        </p:txBody>
      </p:sp>
      <p:sp>
        <p:nvSpPr>
          <p:cNvPr id="5" name="Faculty 1 : M Courses card"/>
          <p:cNvSpPr/>
          <p:nvPr/>
        </p:nvSpPr>
        <p:spPr>
          <a:xfrm>
            <a:off x="8869680" y="1783080"/>
            <a:ext cx="2862072" cy="1325880"/>
          </a:xfrm>
          <a:prstGeom prst="roundRect">
            <a:avLst>
              <a:gd name="adj" fmla="val 5517"/>
            </a:avLst>
          </a:prstGeom>
          <a:solidFill>
            <a:schemeClr val="bg2"/>
          </a:solidFill>
          <a:ln/>
        </p:spPr>
      </p:sp>
      <p:sp>
        <p:nvSpPr>
          <p:cNvPr id="6" name="Faculty 1 : M Courses text"/>
          <p:cNvSpPr txBox="1"/>
          <p:nvPr/>
        </p:nvSpPr>
        <p:spPr>
          <a:xfrm>
            <a:off x="9034272" y="1892808"/>
            <a:ext cx="2560320" cy="1097280"/>
          </a:xfrm>
          <a:prstGeom prst="rect">
            <a:avLst/>
          </a:prstGeom>
          <a:noFill/>
          <a:ln/>
        </p:spPr>
        <p:txBody>
          <a:bodyPr wrap="square" lIns="0" tIns="0" rIns="0" bIns="0" rtlCol="0" anchor="ctr"/>
          <a:lstStyle/>
          <a:p>
            <a:pPr marL="0" indent="0">
              <a:spcAft>
                <a:spcPts val="400"/>
              </a:spcAft>
              <a:buNone/>
            </a:pPr>
            <a:r>
              <a:rPr lang="en-US" sz="1600" b="1" dirty="0">
                <a:solidFill>
                  <a:schemeClr val="accent1"/>
                </a:solidFill>
              </a:rPr>
              <a:t>Faculty 1 : M Courses</a:t>
            </a:r>
            <a:endParaRPr lang="en-US" sz="1600" dirty="0"/>
          </a:p>
          <a:p>
            <a:pPr marL="0" indent="0">
              <a:buNone/>
            </a:pPr>
            <a:r>
              <a:rPr lang="en-US" sz="1400" dirty="0">
                <a:solidFill>
                  <a:schemeClr val="tx1"/>
                </a:solidFill>
              </a:rPr>
              <a:t>One faculty teaches many courses</a:t>
            </a:r>
            <a:endParaRPr lang="en-US" sz="1600" dirty="0"/>
          </a:p>
        </p:txBody>
      </p:sp>
      <p:sp>
        <p:nvSpPr>
          <p:cNvPr id="7" name="Students 1 : M Attendance_Logs card"/>
          <p:cNvSpPr/>
          <p:nvPr/>
        </p:nvSpPr>
        <p:spPr>
          <a:xfrm>
            <a:off x="8869680" y="3246120"/>
            <a:ext cx="2862072" cy="1325880"/>
          </a:xfrm>
          <a:prstGeom prst="roundRect">
            <a:avLst>
              <a:gd name="adj" fmla="val 5517"/>
            </a:avLst>
          </a:prstGeom>
          <a:solidFill>
            <a:schemeClr val="bg2"/>
          </a:solidFill>
          <a:ln/>
        </p:spPr>
      </p:sp>
      <p:sp>
        <p:nvSpPr>
          <p:cNvPr id="8" name="Students 1 : M Attendance_Logs text"/>
          <p:cNvSpPr txBox="1"/>
          <p:nvPr/>
        </p:nvSpPr>
        <p:spPr>
          <a:xfrm>
            <a:off x="9034272" y="3355848"/>
            <a:ext cx="2560320" cy="1097280"/>
          </a:xfrm>
          <a:prstGeom prst="rect">
            <a:avLst/>
          </a:prstGeom>
          <a:noFill/>
          <a:ln/>
        </p:spPr>
        <p:txBody>
          <a:bodyPr wrap="square" lIns="0" tIns="0" rIns="0" bIns="0" rtlCol="0" anchor="ctr"/>
          <a:lstStyle/>
          <a:p>
            <a:pPr marL="0" indent="0">
              <a:spcAft>
                <a:spcPts val="400"/>
              </a:spcAft>
              <a:buNone/>
            </a:pPr>
            <a:r>
              <a:rPr lang="en-US" sz="1600" b="1" dirty="0">
                <a:solidFill>
                  <a:schemeClr val="accent1"/>
                </a:solidFill>
              </a:rPr>
              <a:t>Students 1 : M Attendance_Logs</a:t>
            </a:r>
            <a:endParaRPr lang="en-US" sz="1600" dirty="0"/>
          </a:p>
          <a:p>
            <a:pPr marL="0" indent="0">
              <a:buNone/>
            </a:pPr>
            <a:r>
              <a:rPr lang="en-US" sz="1400" dirty="0">
                <a:solidFill>
                  <a:schemeClr val="tx1"/>
                </a:solidFill>
              </a:rPr>
              <a:t>One student has many entries</a:t>
            </a:r>
            <a:endParaRPr lang="en-US" sz="1600" dirty="0"/>
          </a:p>
        </p:txBody>
      </p:sp>
      <p:sp>
        <p:nvSpPr>
          <p:cNvPr id="9" name="Courses 1 : M Attendance_Logs card"/>
          <p:cNvSpPr/>
          <p:nvPr/>
        </p:nvSpPr>
        <p:spPr>
          <a:xfrm>
            <a:off x="8869680" y="4709160"/>
            <a:ext cx="2862072" cy="1325880"/>
          </a:xfrm>
          <a:prstGeom prst="roundRect">
            <a:avLst>
              <a:gd name="adj" fmla="val 5517"/>
            </a:avLst>
          </a:prstGeom>
          <a:solidFill>
            <a:schemeClr val="bg2"/>
          </a:solidFill>
          <a:ln/>
        </p:spPr>
      </p:sp>
      <p:sp>
        <p:nvSpPr>
          <p:cNvPr id="10" name="Courses 1 : M Attendance_Logs text"/>
          <p:cNvSpPr txBox="1"/>
          <p:nvPr/>
        </p:nvSpPr>
        <p:spPr>
          <a:xfrm>
            <a:off x="9034272" y="4818888"/>
            <a:ext cx="2560320" cy="1097280"/>
          </a:xfrm>
          <a:prstGeom prst="rect">
            <a:avLst/>
          </a:prstGeom>
          <a:noFill/>
          <a:ln/>
        </p:spPr>
        <p:txBody>
          <a:bodyPr wrap="square" lIns="0" tIns="0" rIns="0" bIns="0" rtlCol="0" anchor="ctr"/>
          <a:lstStyle/>
          <a:p>
            <a:pPr marL="0" indent="0">
              <a:spcAft>
                <a:spcPts val="400"/>
              </a:spcAft>
              <a:buNone/>
            </a:pPr>
            <a:r>
              <a:rPr lang="en-US" sz="1600" b="1" dirty="0">
                <a:solidFill>
                  <a:schemeClr val="accent1"/>
                </a:solidFill>
              </a:rPr>
              <a:t>Courses 1 : M Attendance_Logs</a:t>
            </a:r>
            <a:endParaRPr lang="en-US" sz="1600" dirty="0"/>
          </a:p>
          <a:p>
            <a:pPr marL="0" indent="0">
              <a:buNone/>
            </a:pPr>
            <a:r>
              <a:rPr lang="en-US" sz="1400" dirty="0">
                <a:solidFill>
                  <a:schemeClr val="tx1"/>
                </a:solidFill>
              </a:rPr>
              <a:t>One course has many entries</a:t>
            </a:r>
            <a:endParaRPr lang="en-US" sz="1600" dirty="0"/>
          </a:p>
        </p:txBody>
      </p:sp>
      <p:sp>
        <p:nvSpPr>
          <p:cNvPr id="25"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Relational Schema &amp; Normalization</a:t>
            </a:r>
            <a:endParaRPr lang="en-US" sz="3400" dirty="0"/>
          </a:p>
        </p:txBody>
      </p:sp>
      <p:sp>
        <p:nvSpPr>
          <p:cNvPr id="3" name="Students schema card"/>
          <p:cNvSpPr/>
          <p:nvPr/>
        </p:nvSpPr>
        <p:spPr>
          <a:xfrm>
            <a:off x="457200" y="1234440"/>
            <a:ext cx="2651760" cy="2743200"/>
          </a:xfrm>
          <a:prstGeom prst="roundRect">
            <a:avLst>
              <a:gd name="adj" fmla="val 2759"/>
            </a:avLst>
          </a:prstGeom>
          <a:solidFill>
            <a:schemeClr val="bg2"/>
          </a:solidFill>
          <a:ln/>
        </p:spPr>
      </p:sp>
      <p:sp>
        <p:nvSpPr>
          <p:cNvPr id="4" name="Students name"/>
          <p:cNvSpPr txBox="1"/>
          <p:nvPr/>
        </p:nvSpPr>
        <p:spPr>
          <a:xfrm>
            <a:off x="640080" y="1325880"/>
            <a:ext cx="2286000" cy="365760"/>
          </a:xfrm>
          <a:prstGeom prst="rect">
            <a:avLst/>
          </a:prstGeom>
          <a:noFill/>
          <a:ln/>
        </p:spPr>
        <p:txBody>
          <a:bodyPr wrap="square" lIns="0" tIns="0" rIns="0" bIns="0" rtlCol="0" anchor="ctr"/>
          <a:lstStyle/>
          <a:p>
            <a:pPr marL="0" indent="0">
              <a:buNone/>
            </a:pPr>
            <a:r>
              <a:rPr lang="en-US" sz="1700" b="1" dirty="0">
                <a:solidFill>
                  <a:schemeClr val="accent1"/>
                </a:solidFill>
              </a:rPr>
              <a:t>Students</a:t>
            </a:r>
            <a:endParaRPr lang="en-US" sz="1700" dirty="0"/>
          </a:p>
        </p:txBody>
      </p:sp>
      <p:sp>
        <p:nvSpPr>
          <p:cNvPr id="5" name="Students columns"/>
          <p:cNvSpPr txBox="1"/>
          <p:nvPr/>
        </p:nvSpPr>
        <p:spPr>
          <a:xfrm>
            <a:off x="640080" y="1737360"/>
            <a:ext cx="2331720" cy="2148840"/>
          </a:xfrm>
          <a:prstGeom prst="rect">
            <a:avLst/>
          </a:prstGeom>
          <a:noFill/>
          <a:ln/>
        </p:spPr>
        <p:txBody>
          <a:bodyPr wrap="square" lIns="0" tIns="0" rIns="0" bIns="0" rtlCol="0" anchor="t"/>
          <a:lstStyle/>
          <a:p>
            <a:pPr marL="0" indent="0">
              <a:spcAft>
                <a:spcPts val="300"/>
              </a:spcAft>
              <a:buNone/>
            </a:pPr>
            <a:r>
              <a:rPr lang="en-US" sz="1500" dirty="0">
                <a:solidFill>
                  <a:schemeClr val="tx1"/>
                </a:solidFill>
              </a:rPr>
              <a:t>student_id</a:t>
            </a:r>
            <a:r>
              <a:rPr lang="en-US" sz="1500" b="1" dirty="0">
                <a:solidFill>
                  <a:schemeClr val="accent2"/>
                </a:solidFill>
              </a:rPr>
              <a:t> PK</a:t>
            </a:r>
            <a:endParaRPr lang="en-US" sz="1500" dirty="0"/>
          </a:p>
          <a:p>
            <a:pPr marL="0" indent="0">
              <a:spcAft>
                <a:spcPts val="300"/>
              </a:spcAft>
              <a:buNone/>
            </a:pPr>
            <a:r>
              <a:rPr lang="en-US" sz="1500" dirty="0">
                <a:solidFill>
                  <a:schemeClr val="tx1"/>
                </a:solidFill>
              </a:rPr>
              <a:t>roll_no</a:t>
            </a:r>
            <a:r>
              <a:rPr lang="en-US" sz="1500" b="1" dirty="0">
                <a:solidFill>
                  <a:schemeClr val="accent2"/>
                </a:solidFill>
              </a:rPr>
              <a:t> UNIQUE</a:t>
            </a:r>
            <a:endParaRPr lang="en-US" sz="1500" dirty="0"/>
          </a:p>
          <a:p>
            <a:pPr marL="0" indent="0">
              <a:spcAft>
                <a:spcPts val="300"/>
              </a:spcAft>
              <a:buNone/>
            </a:pPr>
            <a:r>
              <a:rPr lang="en-US" sz="1500" dirty="0">
                <a:solidFill>
                  <a:schemeClr val="tx1"/>
                </a:solidFill>
              </a:rPr>
              <a:t>name</a:t>
            </a:r>
            <a:endParaRPr lang="en-US" sz="1500" dirty="0"/>
          </a:p>
          <a:p>
            <a:pPr marL="0" indent="0">
              <a:spcAft>
                <a:spcPts val="300"/>
              </a:spcAft>
              <a:buNone/>
            </a:pPr>
            <a:r>
              <a:rPr lang="en-US" sz="1500" dirty="0">
                <a:solidFill>
                  <a:schemeClr val="tx1"/>
                </a:solidFill>
              </a:rPr>
              <a:t>email</a:t>
            </a:r>
            <a:endParaRPr lang="en-US" sz="1500" dirty="0"/>
          </a:p>
          <a:p>
            <a:pPr marL="0" indent="0">
              <a:spcAft>
                <a:spcPts val="300"/>
              </a:spcAft>
              <a:buNone/>
            </a:pPr>
            <a:r>
              <a:rPr lang="en-US" sz="1500" dirty="0">
                <a:solidFill>
                  <a:schemeClr val="tx1"/>
                </a:solidFill>
              </a:rPr>
              <a:t>department</a:t>
            </a:r>
            <a:endParaRPr lang="en-US" sz="1500" dirty="0"/>
          </a:p>
          <a:p>
            <a:pPr marL="0" indent="0">
              <a:spcAft>
                <a:spcPts val="300"/>
              </a:spcAft>
              <a:buNone/>
            </a:pPr>
            <a:r>
              <a:rPr lang="en-US" sz="1500" dirty="0">
                <a:solidFill>
                  <a:schemeClr val="tx1"/>
                </a:solidFill>
              </a:rPr>
              <a:t>semester</a:t>
            </a:r>
            <a:endParaRPr lang="en-US" sz="1500" dirty="0"/>
          </a:p>
        </p:txBody>
      </p:sp>
      <p:sp>
        <p:nvSpPr>
          <p:cNvPr id="6" name="Faculty schema card"/>
          <p:cNvSpPr/>
          <p:nvPr/>
        </p:nvSpPr>
        <p:spPr>
          <a:xfrm>
            <a:off x="3331159" y="1234440"/>
            <a:ext cx="2651760" cy="2743200"/>
          </a:xfrm>
          <a:prstGeom prst="roundRect">
            <a:avLst>
              <a:gd name="adj" fmla="val 2759"/>
            </a:avLst>
          </a:prstGeom>
          <a:solidFill>
            <a:schemeClr val="bg2"/>
          </a:solidFill>
          <a:ln/>
        </p:spPr>
      </p:sp>
      <p:sp>
        <p:nvSpPr>
          <p:cNvPr id="7" name="Faculty name"/>
          <p:cNvSpPr txBox="1"/>
          <p:nvPr/>
        </p:nvSpPr>
        <p:spPr>
          <a:xfrm>
            <a:off x="3514039" y="1325880"/>
            <a:ext cx="2286000" cy="365760"/>
          </a:xfrm>
          <a:prstGeom prst="rect">
            <a:avLst/>
          </a:prstGeom>
          <a:noFill/>
          <a:ln/>
        </p:spPr>
        <p:txBody>
          <a:bodyPr wrap="square" lIns="0" tIns="0" rIns="0" bIns="0" rtlCol="0" anchor="ctr"/>
          <a:lstStyle/>
          <a:p>
            <a:pPr marL="0" indent="0">
              <a:buNone/>
            </a:pPr>
            <a:r>
              <a:rPr lang="en-US" sz="1700" b="1" dirty="0">
                <a:solidFill>
                  <a:schemeClr val="accent1"/>
                </a:solidFill>
              </a:rPr>
              <a:t>Faculty</a:t>
            </a:r>
            <a:endParaRPr lang="en-US" sz="1700" dirty="0"/>
          </a:p>
        </p:txBody>
      </p:sp>
      <p:sp>
        <p:nvSpPr>
          <p:cNvPr id="8" name="Faculty columns"/>
          <p:cNvSpPr txBox="1"/>
          <p:nvPr/>
        </p:nvSpPr>
        <p:spPr>
          <a:xfrm>
            <a:off x="3514039" y="1737360"/>
            <a:ext cx="2331720" cy="2148840"/>
          </a:xfrm>
          <a:prstGeom prst="rect">
            <a:avLst/>
          </a:prstGeom>
          <a:noFill/>
          <a:ln/>
        </p:spPr>
        <p:txBody>
          <a:bodyPr wrap="square" lIns="0" tIns="0" rIns="0" bIns="0" rtlCol="0" anchor="t"/>
          <a:lstStyle/>
          <a:p>
            <a:pPr marL="0" indent="0">
              <a:spcAft>
                <a:spcPts val="300"/>
              </a:spcAft>
              <a:buNone/>
            </a:pPr>
            <a:r>
              <a:rPr lang="en-US" sz="1500" dirty="0">
                <a:solidFill>
                  <a:schemeClr val="tx1"/>
                </a:solidFill>
              </a:rPr>
              <a:t>faculty_id</a:t>
            </a:r>
            <a:r>
              <a:rPr lang="en-US" sz="1500" b="1" dirty="0">
                <a:solidFill>
                  <a:schemeClr val="accent2"/>
                </a:solidFill>
              </a:rPr>
              <a:t> PK</a:t>
            </a:r>
            <a:endParaRPr lang="en-US" sz="1500" dirty="0"/>
          </a:p>
          <a:p>
            <a:pPr marL="0" indent="0">
              <a:spcAft>
                <a:spcPts val="300"/>
              </a:spcAft>
              <a:buNone/>
            </a:pPr>
            <a:r>
              <a:rPr lang="en-US" sz="1500" dirty="0">
                <a:solidFill>
                  <a:schemeClr val="tx1"/>
                </a:solidFill>
              </a:rPr>
              <a:t>name</a:t>
            </a:r>
            <a:endParaRPr lang="en-US" sz="1500" dirty="0"/>
          </a:p>
          <a:p>
            <a:pPr marL="0" indent="0">
              <a:spcAft>
                <a:spcPts val="300"/>
              </a:spcAft>
              <a:buNone/>
            </a:pPr>
            <a:r>
              <a:rPr lang="en-US" sz="1500" dirty="0">
                <a:solidFill>
                  <a:schemeClr val="tx1"/>
                </a:solidFill>
              </a:rPr>
              <a:t>email</a:t>
            </a:r>
            <a:r>
              <a:rPr lang="en-US" sz="1500" b="1" dirty="0">
                <a:solidFill>
                  <a:schemeClr val="accent2"/>
                </a:solidFill>
              </a:rPr>
              <a:t> UNIQUE</a:t>
            </a:r>
            <a:endParaRPr lang="en-US" sz="1500" dirty="0"/>
          </a:p>
          <a:p>
            <a:pPr marL="0" indent="0">
              <a:spcAft>
                <a:spcPts val="300"/>
              </a:spcAft>
              <a:buNone/>
            </a:pPr>
            <a:r>
              <a:rPr lang="en-US" sz="1500" dirty="0">
                <a:solidFill>
                  <a:schemeClr val="tx1"/>
                </a:solidFill>
              </a:rPr>
              <a:t>department</a:t>
            </a:r>
            <a:endParaRPr lang="en-US" sz="1500" dirty="0"/>
          </a:p>
        </p:txBody>
      </p:sp>
      <p:sp>
        <p:nvSpPr>
          <p:cNvPr id="9" name="Courses schema card"/>
          <p:cNvSpPr/>
          <p:nvPr/>
        </p:nvSpPr>
        <p:spPr>
          <a:xfrm>
            <a:off x="6205118" y="1234440"/>
            <a:ext cx="2651760" cy="2743200"/>
          </a:xfrm>
          <a:prstGeom prst="roundRect">
            <a:avLst>
              <a:gd name="adj" fmla="val 2759"/>
            </a:avLst>
          </a:prstGeom>
          <a:solidFill>
            <a:schemeClr val="bg2"/>
          </a:solidFill>
          <a:ln/>
        </p:spPr>
      </p:sp>
      <p:sp>
        <p:nvSpPr>
          <p:cNvPr id="10" name="Courses name"/>
          <p:cNvSpPr txBox="1"/>
          <p:nvPr/>
        </p:nvSpPr>
        <p:spPr>
          <a:xfrm>
            <a:off x="6387998" y="1325880"/>
            <a:ext cx="2286000" cy="365760"/>
          </a:xfrm>
          <a:prstGeom prst="rect">
            <a:avLst/>
          </a:prstGeom>
          <a:noFill/>
          <a:ln/>
        </p:spPr>
        <p:txBody>
          <a:bodyPr wrap="square" lIns="0" tIns="0" rIns="0" bIns="0" rtlCol="0" anchor="ctr"/>
          <a:lstStyle/>
          <a:p>
            <a:pPr marL="0" indent="0">
              <a:buNone/>
            </a:pPr>
            <a:r>
              <a:rPr lang="en-US" sz="1700" b="1" dirty="0">
                <a:solidFill>
                  <a:schemeClr val="accent1"/>
                </a:solidFill>
              </a:rPr>
              <a:t>Courses</a:t>
            </a:r>
            <a:endParaRPr lang="en-US" sz="1700" dirty="0"/>
          </a:p>
        </p:txBody>
      </p:sp>
      <p:sp>
        <p:nvSpPr>
          <p:cNvPr id="11" name="Courses columns"/>
          <p:cNvSpPr txBox="1"/>
          <p:nvPr/>
        </p:nvSpPr>
        <p:spPr>
          <a:xfrm>
            <a:off x="6387998" y="1737360"/>
            <a:ext cx="2331720" cy="2148840"/>
          </a:xfrm>
          <a:prstGeom prst="rect">
            <a:avLst/>
          </a:prstGeom>
          <a:noFill/>
          <a:ln/>
        </p:spPr>
        <p:txBody>
          <a:bodyPr wrap="square" lIns="0" tIns="0" rIns="0" bIns="0" rtlCol="0" anchor="t"/>
          <a:lstStyle/>
          <a:p>
            <a:pPr marL="0" indent="0">
              <a:spcAft>
                <a:spcPts val="300"/>
              </a:spcAft>
              <a:buNone/>
            </a:pPr>
            <a:r>
              <a:rPr lang="en-US" sz="1500" dirty="0">
                <a:solidFill>
                  <a:schemeClr val="tx1"/>
                </a:solidFill>
              </a:rPr>
              <a:t>course_id</a:t>
            </a:r>
            <a:r>
              <a:rPr lang="en-US" sz="1500" b="1" dirty="0">
                <a:solidFill>
                  <a:schemeClr val="accent2"/>
                </a:solidFill>
              </a:rPr>
              <a:t> PK</a:t>
            </a:r>
            <a:endParaRPr lang="en-US" sz="1500" dirty="0"/>
          </a:p>
          <a:p>
            <a:pPr marL="0" indent="0">
              <a:spcAft>
                <a:spcPts val="300"/>
              </a:spcAft>
              <a:buNone/>
            </a:pPr>
            <a:r>
              <a:rPr lang="en-US" sz="1500" dirty="0">
                <a:solidFill>
                  <a:schemeClr val="tx1"/>
                </a:solidFill>
              </a:rPr>
              <a:t>course_code</a:t>
            </a:r>
            <a:r>
              <a:rPr lang="en-US" sz="1500" b="1" dirty="0">
                <a:solidFill>
                  <a:schemeClr val="accent2"/>
                </a:solidFill>
              </a:rPr>
              <a:t> UNIQUE</a:t>
            </a:r>
            <a:endParaRPr lang="en-US" sz="1500" dirty="0"/>
          </a:p>
          <a:p>
            <a:pPr marL="0" indent="0">
              <a:spcAft>
                <a:spcPts val="300"/>
              </a:spcAft>
              <a:buNone/>
            </a:pPr>
            <a:r>
              <a:rPr lang="en-US" sz="1500" dirty="0">
                <a:solidFill>
                  <a:schemeClr val="tx1"/>
                </a:solidFill>
              </a:rPr>
              <a:t>course_name</a:t>
            </a:r>
            <a:endParaRPr lang="en-US" sz="1500" dirty="0"/>
          </a:p>
          <a:p>
            <a:pPr marL="0" indent="0">
              <a:spcAft>
                <a:spcPts val="300"/>
              </a:spcAft>
              <a:buNone/>
            </a:pPr>
            <a:r>
              <a:rPr lang="en-US" sz="1500" dirty="0">
                <a:solidFill>
                  <a:schemeClr val="tx1"/>
                </a:solidFill>
              </a:rPr>
              <a:t>credits</a:t>
            </a:r>
            <a:endParaRPr lang="en-US" sz="1500" dirty="0"/>
          </a:p>
          <a:p>
            <a:pPr marL="0" indent="0">
              <a:spcAft>
                <a:spcPts val="300"/>
              </a:spcAft>
              <a:buNone/>
            </a:pPr>
            <a:r>
              <a:rPr lang="en-US" sz="1500" dirty="0">
                <a:solidFill>
                  <a:schemeClr val="tx1"/>
                </a:solidFill>
              </a:rPr>
              <a:t>department</a:t>
            </a:r>
            <a:endParaRPr lang="en-US" sz="1500" dirty="0"/>
          </a:p>
          <a:p>
            <a:pPr marL="0" indent="0">
              <a:spcAft>
                <a:spcPts val="300"/>
              </a:spcAft>
              <a:buNone/>
            </a:pPr>
            <a:r>
              <a:rPr lang="en-US" sz="1500" dirty="0">
                <a:solidFill>
                  <a:schemeClr val="tx1"/>
                </a:solidFill>
              </a:rPr>
              <a:t>semester</a:t>
            </a:r>
            <a:endParaRPr lang="en-US" sz="1500" dirty="0"/>
          </a:p>
          <a:p>
            <a:pPr marL="0" indent="0">
              <a:spcAft>
                <a:spcPts val="300"/>
              </a:spcAft>
              <a:buNone/>
            </a:pPr>
            <a:r>
              <a:rPr lang="en-US" sz="1500" dirty="0">
                <a:solidFill>
                  <a:schemeClr val="tx1"/>
                </a:solidFill>
              </a:rPr>
              <a:t>faculty_id</a:t>
            </a:r>
            <a:r>
              <a:rPr lang="en-US" sz="1500" b="1" dirty="0">
                <a:solidFill>
                  <a:schemeClr val="accent2"/>
                </a:solidFill>
              </a:rPr>
              <a:t> FK</a:t>
            </a:r>
            <a:endParaRPr lang="en-US" sz="1500" dirty="0"/>
          </a:p>
        </p:txBody>
      </p:sp>
      <p:sp>
        <p:nvSpPr>
          <p:cNvPr id="12" name="Attendance_Logs schema card"/>
          <p:cNvSpPr/>
          <p:nvPr/>
        </p:nvSpPr>
        <p:spPr>
          <a:xfrm>
            <a:off x="9079078" y="1234440"/>
            <a:ext cx="2651760" cy="2743200"/>
          </a:xfrm>
          <a:prstGeom prst="roundRect">
            <a:avLst>
              <a:gd name="adj" fmla="val 2759"/>
            </a:avLst>
          </a:prstGeom>
          <a:solidFill>
            <a:schemeClr val="bg2"/>
          </a:solidFill>
          <a:ln/>
        </p:spPr>
      </p:sp>
      <p:sp>
        <p:nvSpPr>
          <p:cNvPr id="13" name="Attendance_Logs name"/>
          <p:cNvSpPr txBox="1"/>
          <p:nvPr/>
        </p:nvSpPr>
        <p:spPr>
          <a:xfrm>
            <a:off x="9261958" y="1325880"/>
            <a:ext cx="2286000" cy="365760"/>
          </a:xfrm>
          <a:prstGeom prst="rect">
            <a:avLst/>
          </a:prstGeom>
          <a:noFill/>
          <a:ln/>
        </p:spPr>
        <p:txBody>
          <a:bodyPr wrap="square" lIns="0" tIns="0" rIns="0" bIns="0" rtlCol="0" anchor="ctr"/>
          <a:lstStyle/>
          <a:p>
            <a:pPr marL="0" indent="0">
              <a:buNone/>
            </a:pPr>
            <a:r>
              <a:rPr lang="en-US" sz="1700" b="1" dirty="0">
                <a:solidFill>
                  <a:schemeClr val="accent1"/>
                </a:solidFill>
              </a:rPr>
              <a:t>Attendance_Logs</a:t>
            </a:r>
            <a:endParaRPr lang="en-US" sz="1700" dirty="0"/>
          </a:p>
        </p:txBody>
      </p:sp>
      <p:sp>
        <p:nvSpPr>
          <p:cNvPr id="14" name="Attendance_Logs columns"/>
          <p:cNvSpPr txBox="1"/>
          <p:nvPr/>
        </p:nvSpPr>
        <p:spPr>
          <a:xfrm>
            <a:off x="9261958" y="1737360"/>
            <a:ext cx="2331720" cy="2148840"/>
          </a:xfrm>
          <a:prstGeom prst="rect">
            <a:avLst/>
          </a:prstGeom>
          <a:noFill/>
          <a:ln/>
        </p:spPr>
        <p:txBody>
          <a:bodyPr wrap="square" lIns="0" tIns="0" rIns="0" bIns="0" rtlCol="0" anchor="t"/>
          <a:lstStyle/>
          <a:p>
            <a:pPr marL="0" indent="0">
              <a:spcAft>
                <a:spcPts val="300"/>
              </a:spcAft>
              <a:buNone/>
            </a:pPr>
            <a:r>
              <a:rPr lang="en-US" sz="1500" dirty="0">
                <a:solidFill>
                  <a:schemeClr val="tx1"/>
                </a:solidFill>
              </a:rPr>
              <a:t>log_id</a:t>
            </a:r>
            <a:r>
              <a:rPr lang="en-US" sz="1500" b="1" dirty="0">
                <a:solidFill>
                  <a:schemeClr val="accent2"/>
                </a:solidFill>
              </a:rPr>
              <a:t> PK</a:t>
            </a:r>
            <a:endParaRPr lang="en-US" sz="1500" dirty="0"/>
          </a:p>
          <a:p>
            <a:pPr marL="0" indent="0">
              <a:spcAft>
                <a:spcPts val="300"/>
              </a:spcAft>
              <a:buNone/>
            </a:pPr>
            <a:r>
              <a:rPr lang="en-US" sz="1500" dirty="0">
                <a:solidFill>
                  <a:schemeClr val="tx1"/>
                </a:solidFill>
              </a:rPr>
              <a:t>student_id</a:t>
            </a:r>
            <a:r>
              <a:rPr lang="en-US" sz="1500" b="1" dirty="0">
                <a:solidFill>
                  <a:schemeClr val="accent2"/>
                </a:solidFill>
              </a:rPr>
              <a:t> FK</a:t>
            </a:r>
            <a:endParaRPr lang="en-US" sz="1500" dirty="0"/>
          </a:p>
          <a:p>
            <a:pPr marL="0" indent="0">
              <a:spcAft>
                <a:spcPts val="300"/>
              </a:spcAft>
              <a:buNone/>
            </a:pPr>
            <a:r>
              <a:rPr lang="en-US" sz="1500" dirty="0">
                <a:solidFill>
                  <a:schemeClr val="tx1"/>
                </a:solidFill>
              </a:rPr>
              <a:t>course_id</a:t>
            </a:r>
            <a:r>
              <a:rPr lang="en-US" sz="1500" b="1" dirty="0">
                <a:solidFill>
                  <a:schemeClr val="accent2"/>
                </a:solidFill>
              </a:rPr>
              <a:t> FK</a:t>
            </a:r>
            <a:endParaRPr lang="en-US" sz="1500" dirty="0"/>
          </a:p>
          <a:p>
            <a:pPr marL="0" indent="0">
              <a:spcAft>
                <a:spcPts val="300"/>
              </a:spcAft>
              <a:buNone/>
            </a:pPr>
            <a:r>
              <a:rPr lang="en-US" sz="1500" dirty="0">
                <a:solidFill>
                  <a:schemeClr val="tx1"/>
                </a:solidFill>
              </a:rPr>
              <a:t>marked_by</a:t>
            </a:r>
            <a:r>
              <a:rPr lang="en-US" sz="1500" b="1" dirty="0">
                <a:solidFill>
                  <a:schemeClr val="accent2"/>
                </a:solidFill>
              </a:rPr>
              <a:t> FK</a:t>
            </a:r>
            <a:endParaRPr lang="en-US" sz="1500" dirty="0"/>
          </a:p>
          <a:p>
            <a:pPr marL="0" indent="0">
              <a:spcAft>
                <a:spcPts val="300"/>
              </a:spcAft>
              <a:buNone/>
            </a:pPr>
            <a:r>
              <a:rPr lang="en-US" sz="1500" dirty="0">
                <a:solidFill>
                  <a:schemeClr val="tx1"/>
                </a:solidFill>
              </a:rPr>
              <a:t>attendance_date</a:t>
            </a:r>
            <a:endParaRPr lang="en-US" sz="1500" dirty="0"/>
          </a:p>
          <a:p>
            <a:pPr marL="0" indent="0">
              <a:spcAft>
                <a:spcPts val="300"/>
              </a:spcAft>
              <a:buNone/>
            </a:pPr>
            <a:r>
              <a:rPr lang="en-US" sz="1500" dirty="0">
                <a:solidFill>
                  <a:schemeClr val="tx1"/>
                </a:solidFill>
              </a:rPr>
              <a:t>status</a:t>
            </a:r>
            <a:endParaRPr lang="en-US" sz="1500" dirty="0"/>
          </a:p>
          <a:p>
            <a:pPr marL="0" indent="0">
              <a:spcAft>
                <a:spcPts val="300"/>
              </a:spcAft>
              <a:buNone/>
            </a:pPr>
            <a:r>
              <a:rPr lang="en-US" sz="1500" dirty="0">
                <a:solidFill>
                  <a:schemeClr val="tx1"/>
                </a:solidFill>
              </a:rPr>
              <a:t>UNIQUE (student, course, date)</a:t>
            </a:r>
            <a:endParaRPr lang="en-US" sz="1500" dirty="0"/>
          </a:p>
        </p:txBody>
      </p:sp>
      <p:sp>
        <p:nvSpPr>
          <p:cNvPr id="15" name="1NF card"/>
          <p:cNvSpPr/>
          <p:nvPr/>
        </p:nvSpPr>
        <p:spPr>
          <a:xfrm>
            <a:off x="457200" y="4206240"/>
            <a:ext cx="3636569" cy="2011680"/>
          </a:xfrm>
          <a:prstGeom prst="roundRect">
            <a:avLst>
              <a:gd name="adj" fmla="val 3636"/>
            </a:avLst>
          </a:prstGeom>
          <a:solidFill>
            <a:schemeClr val="bg2"/>
          </a:solidFill>
          <a:ln/>
        </p:spPr>
      </p:sp>
      <p:sp>
        <p:nvSpPr>
          <p:cNvPr id="16" name="1NF chip"/>
          <p:cNvSpPr/>
          <p:nvPr/>
        </p:nvSpPr>
        <p:spPr>
          <a:xfrm>
            <a:off x="640080" y="4343400"/>
            <a:ext cx="731520" cy="365760"/>
          </a:xfrm>
          <a:prstGeom prst="roundRect">
            <a:avLst>
              <a:gd name="adj" fmla="val 20000"/>
            </a:avLst>
          </a:prstGeom>
          <a:solidFill>
            <a:schemeClr val="accent1"/>
          </a:solidFill>
          <a:ln/>
        </p:spPr>
      </p:sp>
      <p:sp>
        <p:nvSpPr>
          <p:cNvPr id="17" name="1NF chip label"/>
          <p:cNvSpPr txBox="1"/>
          <p:nvPr/>
        </p:nvSpPr>
        <p:spPr>
          <a:xfrm>
            <a:off x="640080" y="4343400"/>
            <a:ext cx="731520" cy="365760"/>
          </a:xfrm>
          <a:prstGeom prst="rect">
            <a:avLst/>
          </a:prstGeom>
          <a:noFill/>
          <a:ln/>
        </p:spPr>
        <p:txBody>
          <a:bodyPr wrap="square" lIns="0" tIns="0" rIns="0" bIns="0" rtlCol="0" anchor="ctr"/>
          <a:lstStyle/>
          <a:p>
            <a:pPr marL="0" indent="0" algn="ctr">
              <a:buNone/>
            </a:pPr>
            <a:r>
              <a:rPr lang="en-US" sz="1500" b="1" dirty="0">
                <a:solidFill>
                  <a:schemeClr val="bg1"/>
                </a:solidFill>
              </a:rPr>
              <a:t>1NF</a:t>
            </a:r>
            <a:endParaRPr lang="en-US" sz="1500" dirty="0"/>
          </a:p>
        </p:txBody>
      </p:sp>
      <p:sp>
        <p:nvSpPr>
          <p:cNvPr id="18" name="1NF heading"/>
          <p:cNvSpPr txBox="1"/>
          <p:nvPr/>
        </p:nvSpPr>
        <p:spPr>
          <a:xfrm>
            <a:off x="1508760" y="4343400"/>
            <a:ext cx="2468880" cy="365760"/>
          </a:xfrm>
          <a:prstGeom prst="rect">
            <a:avLst/>
          </a:prstGeom>
          <a:noFill/>
          <a:ln/>
        </p:spPr>
        <p:txBody>
          <a:bodyPr wrap="square" lIns="0" tIns="0" rIns="0" bIns="0" rtlCol="0" anchor="ctr"/>
          <a:lstStyle/>
          <a:p>
            <a:pPr marL="0" indent="0">
              <a:buNone/>
            </a:pPr>
            <a:r>
              <a:rPr lang="en-US" sz="1500" b="1" dirty="0">
                <a:solidFill>
                  <a:schemeClr val="accent1"/>
                </a:solidFill>
              </a:rPr>
              <a:t>Every field holds one value</a:t>
            </a:r>
            <a:endParaRPr lang="en-US" sz="1500" dirty="0"/>
          </a:p>
        </p:txBody>
      </p:sp>
      <p:sp>
        <p:nvSpPr>
          <p:cNvPr id="19" name="1NF text"/>
          <p:cNvSpPr txBox="1"/>
          <p:nvPr/>
        </p:nvSpPr>
        <p:spPr>
          <a:xfrm>
            <a:off x="640080" y="4846320"/>
            <a:ext cx="3246120" cy="1280160"/>
          </a:xfrm>
          <a:prstGeom prst="rect">
            <a:avLst/>
          </a:prstGeom>
          <a:noFill/>
          <a:ln/>
        </p:spPr>
        <p:txBody>
          <a:bodyPr wrap="square" lIns="0" tIns="0" rIns="0" bIns="0" rtlCol="0" anchor="t"/>
          <a:lstStyle/>
          <a:p>
            <a:pPr marL="0" indent="0">
              <a:buNone/>
            </a:pPr>
            <a:r>
              <a:rPr lang="en-US" sz="1500" dirty="0">
                <a:solidFill>
                  <a:schemeClr val="tx1"/>
                </a:solidFill>
              </a:rPr>
              <a:t>One roll number and one email per student, never a list in a single field.</a:t>
            </a:r>
            <a:endParaRPr lang="en-US" sz="1500" dirty="0"/>
          </a:p>
        </p:txBody>
      </p:sp>
      <p:sp>
        <p:nvSpPr>
          <p:cNvPr id="20" name="2NF card"/>
          <p:cNvSpPr/>
          <p:nvPr/>
        </p:nvSpPr>
        <p:spPr>
          <a:xfrm>
            <a:off x="4276649" y="4206240"/>
            <a:ext cx="3636569" cy="2011680"/>
          </a:xfrm>
          <a:prstGeom prst="roundRect">
            <a:avLst>
              <a:gd name="adj" fmla="val 3636"/>
            </a:avLst>
          </a:prstGeom>
          <a:solidFill>
            <a:schemeClr val="bg2"/>
          </a:solidFill>
          <a:ln/>
        </p:spPr>
      </p:sp>
      <p:sp>
        <p:nvSpPr>
          <p:cNvPr id="21" name="2NF chip"/>
          <p:cNvSpPr/>
          <p:nvPr/>
        </p:nvSpPr>
        <p:spPr>
          <a:xfrm>
            <a:off x="4459529" y="4343400"/>
            <a:ext cx="731520" cy="365760"/>
          </a:xfrm>
          <a:prstGeom prst="roundRect">
            <a:avLst>
              <a:gd name="adj" fmla="val 20000"/>
            </a:avLst>
          </a:prstGeom>
          <a:solidFill>
            <a:schemeClr val="accent1"/>
          </a:solidFill>
          <a:ln/>
        </p:spPr>
      </p:sp>
      <p:sp>
        <p:nvSpPr>
          <p:cNvPr id="22" name="2NF chip label"/>
          <p:cNvSpPr txBox="1"/>
          <p:nvPr/>
        </p:nvSpPr>
        <p:spPr>
          <a:xfrm>
            <a:off x="4459529" y="4343400"/>
            <a:ext cx="731520" cy="365760"/>
          </a:xfrm>
          <a:prstGeom prst="rect">
            <a:avLst/>
          </a:prstGeom>
          <a:noFill/>
          <a:ln/>
        </p:spPr>
        <p:txBody>
          <a:bodyPr wrap="square" lIns="0" tIns="0" rIns="0" bIns="0" rtlCol="0" anchor="ctr"/>
          <a:lstStyle/>
          <a:p>
            <a:pPr marL="0" indent="0" algn="ctr">
              <a:buNone/>
            </a:pPr>
            <a:r>
              <a:rPr lang="en-US" sz="1500" b="1" dirty="0">
                <a:solidFill>
                  <a:schemeClr val="bg1"/>
                </a:solidFill>
              </a:rPr>
              <a:t>2NF</a:t>
            </a:r>
            <a:endParaRPr lang="en-US" sz="1500" dirty="0"/>
          </a:p>
        </p:txBody>
      </p:sp>
      <p:sp>
        <p:nvSpPr>
          <p:cNvPr id="23" name="2NF heading"/>
          <p:cNvSpPr txBox="1"/>
          <p:nvPr/>
        </p:nvSpPr>
        <p:spPr>
          <a:xfrm>
            <a:off x="5328209" y="4343400"/>
            <a:ext cx="2468880" cy="365760"/>
          </a:xfrm>
          <a:prstGeom prst="rect">
            <a:avLst/>
          </a:prstGeom>
          <a:noFill/>
          <a:ln/>
        </p:spPr>
        <p:txBody>
          <a:bodyPr wrap="square" lIns="0" tIns="0" rIns="0" bIns="0" rtlCol="0" anchor="ctr"/>
          <a:lstStyle/>
          <a:p>
            <a:pPr marL="0" indent="0">
              <a:buNone/>
            </a:pPr>
            <a:r>
              <a:rPr lang="en-US" sz="1500" b="1" dirty="0">
                <a:solidFill>
                  <a:schemeClr val="accent1"/>
                </a:solidFill>
              </a:rPr>
              <a:t>Details sit with their own key</a:t>
            </a:r>
            <a:endParaRPr lang="en-US" sz="1500" dirty="0"/>
          </a:p>
        </p:txBody>
      </p:sp>
      <p:sp>
        <p:nvSpPr>
          <p:cNvPr id="24" name="2NF text"/>
          <p:cNvSpPr txBox="1"/>
          <p:nvPr/>
        </p:nvSpPr>
        <p:spPr>
          <a:xfrm>
            <a:off x="4459529" y="4846320"/>
            <a:ext cx="3246120" cy="1280160"/>
          </a:xfrm>
          <a:prstGeom prst="rect">
            <a:avLst/>
          </a:prstGeom>
          <a:noFill/>
          <a:ln/>
        </p:spPr>
        <p:txBody>
          <a:bodyPr wrap="square" lIns="0" tIns="0" rIns="0" bIns="0" rtlCol="0" anchor="t"/>
          <a:lstStyle/>
          <a:p>
            <a:pPr marL="0" indent="0">
              <a:buNone/>
            </a:pPr>
            <a:r>
              <a:rPr lang="en-US" sz="1500" dirty="0">
                <a:solidFill>
                  <a:schemeClr val="tx1"/>
                </a:solidFill>
              </a:rPr>
              <a:t>Student names and contacts stay in Students, not repeated in every attendance row.</a:t>
            </a:r>
            <a:endParaRPr lang="en-US" sz="1500" dirty="0"/>
          </a:p>
        </p:txBody>
      </p:sp>
      <p:sp>
        <p:nvSpPr>
          <p:cNvPr id="25" name="3NF card"/>
          <p:cNvSpPr/>
          <p:nvPr/>
        </p:nvSpPr>
        <p:spPr>
          <a:xfrm>
            <a:off x="8096098" y="4206240"/>
            <a:ext cx="3636569" cy="2011680"/>
          </a:xfrm>
          <a:prstGeom prst="roundRect">
            <a:avLst>
              <a:gd name="adj" fmla="val 3636"/>
            </a:avLst>
          </a:prstGeom>
          <a:solidFill>
            <a:schemeClr val="bg2"/>
          </a:solidFill>
          <a:ln/>
        </p:spPr>
      </p:sp>
      <p:sp>
        <p:nvSpPr>
          <p:cNvPr id="26" name="3NF chip"/>
          <p:cNvSpPr/>
          <p:nvPr/>
        </p:nvSpPr>
        <p:spPr>
          <a:xfrm>
            <a:off x="8278978" y="4343400"/>
            <a:ext cx="731520" cy="365760"/>
          </a:xfrm>
          <a:prstGeom prst="roundRect">
            <a:avLst>
              <a:gd name="adj" fmla="val 20000"/>
            </a:avLst>
          </a:prstGeom>
          <a:solidFill>
            <a:schemeClr val="accent1"/>
          </a:solidFill>
          <a:ln/>
        </p:spPr>
      </p:sp>
      <p:sp>
        <p:nvSpPr>
          <p:cNvPr id="27" name="3NF chip label"/>
          <p:cNvSpPr txBox="1"/>
          <p:nvPr/>
        </p:nvSpPr>
        <p:spPr>
          <a:xfrm>
            <a:off x="8278978" y="4343400"/>
            <a:ext cx="731520" cy="365760"/>
          </a:xfrm>
          <a:prstGeom prst="rect">
            <a:avLst/>
          </a:prstGeom>
          <a:noFill/>
          <a:ln/>
        </p:spPr>
        <p:txBody>
          <a:bodyPr wrap="square" lIns="0" tIns="0" rIns="0" bIns="0" rtlCol="0" anchor="ctr"/>
          <a:lstStyle/>
          <a:p>
            <a:pPr marL="0" indent="0" algn="ctr">
              <a:buNone/>
            </a:pPr>
            <a:r>
              <a:rPr lang="en-US" sz="1500" b="1" dirty="0">
                <a:solidFill>
                  <a:schemeClr val="bg1"/>
                </a:solidFill>
              </a:rPr>
              <a:t>3NF</a:t>
            </a:r>
            <a:endParaRPr lang="en-US" sz="1500" dirty="0"/>
          </a:p>
        </p:txBody>
      </p:sp>
      <p:sp>
        <p:nvSpPr>
          <p:cNvPr id="28" name="3NF heading"/>
          <p:cNvSpPr txBox="1"/>
          <p:nvPr/>
        </p:nvSpPr>
        <p:spPr>
          <a:xfrm>
            <a:off x="9147658" y="4343400"/>
            <a:ext cx="2468880" cy="365760"/>
          </a:xfrm>
          <a:prstGeom prst="rect">
            <a:avLst/>
          </a:prstGeom>
          <a:noFill/>
          <a:ln/>
        </p:spPr>
        <p:txBody>
          <a:bodyPr wrap="square" lIns="0" tIns="0" rIns="0" bIns="0" rtlCol="0" anchor="ctr"/>
          <a:lstStyle/>
          <a:p>
            <a:pPr marL="0" indent="0">
              <a:buNone/>
            </a:pPr>
            <a:r>
              <a:rPr lang="en-US" sz="1500" b="1" dirty="0">
                <a:solidFill>
                  <a:schemeClr val="accent1"/>
                </a:solidFill>
              </a:rPr>
              <a:t>No repeated data</a:t>
            </a:r>
            <a:endParaRPr lang="en-US" sz="1500" dirty="0"/>
          </a:p>
        </p:txBody>
      </p:sp>
      <p:sp>
        <p:nvSpPr>
          <p:cNvPr id="29" name="3NF text"/>
          <p:cNvSpPr txBox="1"/>
          <p:nvPr/>
        </p:nvSpPr>
        <p:spPr>
          <a:xfrm>
            <a:off x="8278978" y="4846320"/>
            <a:ext cx="3246120" cy="1280160"/>
          </a:xfrm>
          <a:prstGeom prst="rect">
            <a:avLst/>
          </a:prstGeom>
          <a:noFill/>
          <a:ln/>
        </p:spPr>
        <p:txBody>
          <a:bodyPr wrap="square" lIns="0" tIns="0" rIns="0" bIns="0" rtlCol="0" anchor="t"/>
          <a:lstStyle/>
          <a:p>
            <a:pPr marL="0" indent="0">
              <a:buNone/>
            </a:pPr>
            <a:r>
              <a:rPr lang="en-US" sz="1500" dirty="0">
                <a:solidFill>
                  <a:schemeClr val="tx1"/>
                </a:solidFill>
              </a:rPr>
              <a:t>Faculty and course details are separate tables; Attendance_Logs uses foreign keys instead of repeating emails or course names.</a:t>
            </a:r>
            <a:endParaRPr lang="en-US" sz="1500" dirty="0"/>
          </a:p>
        </p:txBody>
      </p:sp>
      <p:sp>
        <p:nvSpPr>
          <p:cNvPr id="30"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SQL Implementation: DDL Scripts</a:t>
            </a:r>
            <a:endParaRPr lang="en-US" sz="3400" dirty="0"/>
          </a:p>
        </p:txBody>
      </p:sp>
      <p:sp>
        <p:nvSpPr>
          <p:cNvPr id="3" name="Students DDL panel"/>
          <p:cNvSpPr/>
          <p:nvPr/>
        </p:nvSpPr>
        <p:spPr>
          <a:xfrm>
            <a:off x="457200" y="1234440"/>
            <a:ext cx="5577840" cy="2331720"/>
          </a:xfrm>
          <a:prstGeom prst="roundRect">
            <a:avLst>
              <a:gd name="adj" fmla="val 3137"/>
            </a:avLst>
          </a:prstGeom>
          <a:solidFill>
            <a:schemeClr val="bg2"/>
          </a:solidFill>
          <a:ln/>
        </p:spPr>
      </p:sp>
      <p:sp>
        <p:nvSpPr>
          <p:cNvPr id="4" name="Students DDL label"/>
          <p:cNvSpPr txBox="1"/>
          <p:nvPr/>
        </p:nvSpPr>
        <p:spPr>
          <a:xfrm>
            <a:off x="640080" y="1325880"/>
            <a:ext cx="5212080" cy="292608"/>
          </a:xfrm>
          <a:prstGeom prst="rect">
            <a:avLst/>
          </a:prstGeom>
          <a:noFill/>
          <a:ln/>
        </p:spPr>
        <p:txBody>
          <a:bodyPr wrap="square" lIns="0" tIns="0" rIns="0" bIns="0" rtlCol="0" anchor="ctr"/>
          <a:lstStyle/>
          <a:p>
            <a:pPr marL="0" indent="0">
              <a:buNone/>
            </a:pPr>
            <a:r>
              <a:rPr lang="en-US" sz="1500" b="1" dirty="0">
                <a:solidFill>
                  <a:schemeClr val="accent1"/>
                </a:solidFill>
              </a:rPr>
              <a:t>Students table</a:t>
            </a:r>
            <a:endParaRPr lang="en-US" sz="1500" dirty="0"/>
          </a:p>
        </p:txBody>
      </p:sp>
      <p:sp>
        <p:nvSpPr>
          <p:cNvPr id="5" name="Students DDL code"/>
          <p:cNvSpPr txBox="1"/>
          <p:nvPr/>
        </p:nvSpPr>
        <p:spPr>
          <a:xfrm>
            <a:off x="640080" y="1673352"/>
            <a:ext cx="5212080" cy="1801368"/>
          </a:xfrm>
          <a:prstGeom prst="rect">
            <a:avLst/>
          </a:prstGeom>
          <a:noFill/>
          <a:ln/>
        </p:spPr>
        <p:txBody>
          <a:bodyPr wrap="square" lIns="0" tIns="0" rIns="0" bIns="0" rtlCol="0" anchor="t"/>
          <a:lstStyle/>
          <a:p>
            <a:pPr marL="0" indent="0">
              <a:buNone/>
            </a:pPr>
            <a:r>
              <a:rPr lang="en-US" sz="1150" b="1" dirty="0">
                <a:solidFill>
                  <a:schemeClr val="accent2"/>
                </a:solidFill>
                <a:latin typeface="Courier New" pitchFamily="34" charset="0"/>
                <a:ea typeface="Courier New" pitchFamily="34" charset="-122"/>
                <a:cs typeface="Courier New" pitchFamily="34" charset="-120"/>
              </a:rPr>
              <a:t>CREATE</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TABLE</a:t>
            </a:r>
            <a:r>
              <a:rPr lang="en-US" sz="1150" dirty="0">
                <a:solidFill>
                  <a:schemeClr val="tx1"/>
                </a:solidFill>
                <a:latin typeface="Courier New" pitchFamily="34" charset="0"/>
                <a:ea typeface="Courier New" pitchFamily="34" charset="-122"/>
                <a:cs typeface="Courier New" pitchFamily="34" charset="-120"/>
              </a:rPr>
              <a:t> Students (</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student_id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PRIMARY</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KEY</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AUTOINCREMENT</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roll_no </a:t>
            </a:r>
            <a:r>
              <a:rPr lang="en-US" sz="1150" b="1" dirty="0">
                <a:solidFill>
                  <a:schemeClr val="accent2"/>
                </a:solidFill>
                <a:latin typeface="Courier New" pitchFamily="34" charset="0"/>
                <a:ea typeface="Courier New" pitchFamily="34" charset="-122"/>
                <a:cs typeface="Courier New" pitchFamily="34" charset="-120"/>
              </a:rPr>
              <a:t>TEXT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UNIQUE</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name </a:t>
            </a:r>
            <a:r>
              <a:rPr lang="en-US" sz="1150" b="1" dirty="0">
                <a:solidFill>
                  <a:schemeClr val="accent2"/>
                </a:solidFill>
                <a:latin typeface="Courier New" pitchFamily="34" charset="0"/>
                <a:ea typeface="Courier New" pitchFamily="34" charset="-122"/>
                <a:cs typeface="Courier New" pitchFamily="34" charset="-120"/>
              </a:rPr>
              <a:t>TEXT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email </a:t>
            </a:r>
            <a:r>
              <a:rPr lang="en-US" sz="1150" b="1" dirty="0">
                <a:solidFill>
                  <a:schemeClr val="accent2"/>
                </a:solidFill>
                <a:latin typeface="Courier New" pitchFamily="34" charset="0"/>
                <a:ea typeface="Courier New" pitchFamily="34" charset="-122"/>
                <a:cs typeface="Courier New" pitchFamily="34" charset="-120"/>
              </a:rPr>
              <a:t>TEXT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UNIQUE</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department </a:t>
            </a:r>
            <a:r>
              <a:rPr lang="en-US" sz="1150" b="1" dirty="0">
                <a:solidFill>
                  <a:schemeClr val="accent2"/>
                </a:solidFill>
                <a:latin typeface="Courier New" pitchFamily="34" charset="0"/>
                <a:ea typeface="Courier New" pitchFamily="34" charset="-122"/>
                <a:cs typeface="Courier New" pitchFamily="34" charset="-120"/>
              </a:rPr>
              <a:t>TEXT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semester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CHECK</a:t>
            </a:r>
            <a:r>
              <a:rPr lang="en-US" sz="1150" dirty="0">
                <a:solidFill>
                  <a:schemeClr val="tx1"/>
                </a:solidFill>
                <a:latin typeface="Courier New" pitchFamily="34" charset="0"/>
                <a:ea typeface="Courier New" pitchFamily="34" charset="-122"/>
                <a:cs typeface="Courier New" pitchFamily="34" charset="-120"/>
              </a:rPr>
              <a:t> (semester </a:t>
            </a:r>
            <a:r>
              <a:rPr lang="en-US" sz="1150" b="1" dirty="0">
                <a:solidFill>
                  <a:schemeClr val="accent2"/>
                </a:solidFill>
                <a:latin typeface="Courier New" pitchFamily="34" charset="0"/>
                <a:ea typeface="Courier New" pitchFamily="34" charset="-122"/>
                <a:cs typeface="Courier New" pitchFamily="34" charset="-120"/>
              </a:rPr>
              <a:t>BETWEEN</a:t>
            </a:r>
            <a:r>
              <a:rPr lang="en-US" sz="1150" dirty="0">
                <a:solidFill>
                  <a:schemeClr val="tx1"/>
                </a:solidFill>
                <a:latin typeface="Courier New" pitchFamily="34" charset="0"/>
                <a:ea typeface="Courier New" pitchFamily="34" charset="-122"/>
                <a:cs typeface="Courier New" pitchFamily="34" charset="-120"/>
              </a:rPr>
              <a:t> 1 </a:t>
            </a:r>
            <a:r>
              <a:rPr lang="en-US" sz="1150" b="1" dirty="0">
                <a:solidFill>
                  <a:schemeClr val="accent2"/>
                </a:solidFill>
                <a:latin typeface="Courier New" pitchFamily="34" charset="0"/>
                <a:ea typeface="Courier New" pitchFamily="34" charset="-122"/>
                <a:cs typeface="Courier New" pitchFamily="34" charset="-120"/>
              </a:rPr>
              <a:t>AND</a:t>
            </a:r>
            <a:r>
              <a:rPr lang="en-US" sz="1150" dirty="0">
                <a:solidFill>
                  <a:schemeClr val="tx1"/>
                </a:solidFill>
                <a:latin typeface="Courier New" pitchFamily="34" charset="0"/>
                <a:ea typeface="Courier New" pitchFamily="34" charset="-122"/>
                <a:cs typeface="Courier New" pitchFamily="34" charset="-120"/>
              </a:rPr>
              <a:t> 8)</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a:t>
            </a:r>
            <a:endParaRPr lang="en-US" sz="1150" dirty="0"/>
          </a:p>
        </p:txBody>
      </p:sp>
      <p:sp>
        <p:nvSpPr>
          <p:cNvPr id="6" name="Courses DDL panel"/>
          <p:cNvSpPr/>
          <p:nvPr/>
        </p:nvSpPr>
        <p:spPr>
          <a:xfrm>
            <a:off x="457200" y="3703320"/>
            <a:ext cx="5577840" cy="2560320"/>
          </a:xfrm>
          <a:prstGeom prst="roundRect">
            <a:avLst>
              <a:gd name="adj" fmla="val 2857"/>
            </a:avLst>
          </a:prstGeom>
          <a:solidFill>
            <a:schemeClr val="bg2"/>
          </a:solidFill>
          <a:ln/>
        </p:spPr>
      </p:sp>
      <p:sp>
        <p:nvSpPr>
          <p:cNvPr id="7" name="Courses DDL label"/>
          <p:cNvSpPr txBox="1"/>
          <p:nvPr/>
        </p:nvSpPr>
        <p:spPr>
          <a:xfrm>
            <a:off x="640080" y="3794760"/>
            <a:ext cx="5212080" cy="292608"/>
          </a:xfrm>
          <a:prstGeom prst="rect">
            <a:avLst/>
          </a:prstGeom>
          <a:noFill/>
          <a:ln/>
        </p:spPr>
        <p:txBody>
          <a:bodyPr wrap="square" lIns="0" tIns="0" rIns="0" bIns="0" rtlCol="0" anchor="ctr"/>
          <a:lstStyle/>
          <a:p>
            <a:pPr marL="0" indent="0">
              <a:buNone/>
            </a:pPr>
            <a:r>
              <a:rPr lang="en-US" sz="1500" b="1" dirty="0">
                <a:solidFill>
                  <a:schemeClr val="accent1"/>
                </a:solidFill>
              </a:rPr>
              <a:t>Courses table</a:t>
            </a:r>
            <a:endParaRPr lang="en-US" sz="1500" dirty="0"/>
          </a:p>
        </p:txBody>
      </p:sp>
      <p:sp>
        <p:nvSpPr>
          <p:cNvPr id="8" name="Courses DDL code"/>
          <p:cNvSpPr txBox="1"/>
          <p:nvPr/>
        </p:nvSpPr>
        <p:spPr>
          <a:xfrm>
            <a:off x="640080" y="4142232"/>
            <a:ext cx="5212080" cy="2029968"/>
          </a:xfrm>
          <a:prstGeom prst="rect">
            <a:avLst/>
          </a:prstGeom>
          <a:noFill/>
          <a:ln/>
        </p:spPr>
        <p:txBody>
          <a:bodyPr wrap="square" lIns="0" tIns="0" rIns="0" bIns="0" rtlCol="0" anchor="t"/>
          <a:lstStyle/>
          <a:p>
            <a:pPr marL="0" indent="0">
              <a:buNone/>
            </a:pPr>
            <a:r>
              <a:rPr lang="en-US" sz="1150" b="1" dirty="0">
                <a:solidFill>
                  <a:schemeClr val="accent2"/>
                </a:solidFill>
                <a:latin typeface="Courier New" pitchFamily="34" charset="0"/>
                <a:ea typeface="Courier New" pitchFamily="34" charset="-122"/>
                <a:cs typeface="Courier New" pitchFamily="34" charset="-120"/>
              </a:rPr>
              <a:t>CREATE</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TABLE</a:t>
            </a:r>
            <a:r>
              <a:rPr lang="en-US" sz="1150" dirty="0">
                <a:solidFill>
                  <a:schemeClr val="tx1"/>
                </a:solidFill>
                <a:latin typeface="Courier New" pitchFamily="34" charset="0"/>
                <a:ea typeface="Courier New" pitchFamily="34" charset="-122"/>
                <a:cs typeface="Courier New" pitchFamily="34" charset="-120"/>
              </a:rPr>
              <a:t> Courses (</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course_id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PRIMARY</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KEY</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AUTOINCREMENT</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course_code </a:t>
            </a:r>
            <a:r>
              <a:rPr lang="en-US" sz="1150" b="1" dirty="0">
                <a:solidFill>
                  <a:schemeClr val="accent2"/>
                </a:solidFill>
                <a:latin typeface="Courier New" pitchFamily="34" charset="0"/>
                <a:ea typeface="Courier New" pitchFamily="34" charset="-122"/>
                <a:cs typeface="Courier New" pitchFamily="34" charset="-120"/>
              </a:rPr>
              <a:t>TEXT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UNIQUE</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course_name </a:t>
            </a:r>
            <a:r>
              <a:rPr lang="en-US" sz="1150" b="1" dirty="0">
                <a:solidFill>
                  <a:schemeClr val="accent2"/>
                </a:solidFill>
                <a:latin typeface="Courier New" pitchFamily="34" charset="0"/>
                <a:ea typeface="Courier New" pitchFamily="34" charset="-122"/>
                <a:cs typeface="Courier New" pitchFamily="34" charset="-120"/>
              </a:rPr>
              <a:t>TEXT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credits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CHECK</a:t>
            </a:r>
            <a:r>
              <a:rPr lang="en-US" sz="1150" dirty="0">
                <a:solidFill>
                  <a:schemeClr val="tx1"/>
                </a:solidFill>
                <a:latin typeface="Courier New" pitchFamily="34" charset="0"/>
                <a:ea typeface="Courier New" pitchFamily="34" charset="-122"/>
                <a:cs typeface="Courier New" pitchFamily="34" charset="-120"/>
              </a:rPr>
              <a:t> (credits &gt; 0),</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department </a:t>
            </a:r>
            <a:r>
              <a:rPr lang="en-US" sz="1150" b="1" dirty="0">
                <a:solidFill>
                  <a:schemeClr val="accent2"/>
                </a:solidFill>
                <a:latin typeface="Courier New" pitchFamily="34" charset="0"/>
                <a:ea typeface="Courier New" pitchFamily="34" charset="-122"/>
                <a:cs typeface="Courier New" pitchFamily="34" charset="-120"/>
              </a:rPr>
              <a:t>TEXT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semester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CHECK</a:t>
            </a:r>
            <a:r>
              <a:rPr lang="en-US" sz="1150" dirty="0">
                <a:solidFill>
                  <a:schemeClr val="tx1"/>
                </a:solidFill>
                <a:latin typeface="Courier New" pitchFamily="34" charset="0"/>
                <a:ea typeface="Courier New" pitchFamily="34" charset="-122"/>
                <a:cs typeface="Courier New" pitchFamily="34" charset="-120"/>
              </a:rPr>
              <a:t> (semester </a:t>
            </a:r>
            <a:r>
              <a:rPr lang="en-US" sz="1150" b="1" dirty="0">
                <a:solidFill>
                  <a:schemeClr val="accent2"/>
                </a:solidFill>
                <a:latin typeface="Courier New" pitchFamily="34" charset="0"/>
                <a:ea typeface="Courier New" pitchFamily="34" charset="-122"/>
                <a:cs typeface="Courier New" pitchFamily="34" charset="-120"/>
              </a:rPr>
              <a:t>BETWEEN</a:t>
            </a:r>
            <a:r>
              <a:rPr lang="en-US" sz="1150" dirty="0">
                <a:solidFill>
                  <a:schemeClr val="tx1"/>
                </a:solidFill>
                <a:latin typeface="Courier New" pitchFamily="34" charset="0"/>
                <a:ea typeface="Courier New" pitchFamily="34" charset="-122"/>
                <a:cs typeface="Courier New" pitchFamily="34" charset="-120"/>
              </a:rPr>
              <a:t> 1 </a:t>
            </a:r>
            <a:r>
              <a:rPr lang="en-US" sz="1150" b="1" dirty="0">
                <a:solidFill>
                  <a:schemeClr val="accent2"/>
                </a:solidFill>
                <a:latin typeface="Courier New" pitchFamily="34" charset="0"/>
                <a:ea typeface="Courier New" pitchFamily="34" charset="-122"/>
                <a:cs typeface="Courier New" pitchFamily="34" charset="-120"/>
              </a:rPr>
              <a:t>AND</a:t>
            </a:r>
            <a:r>
              <a:rPr lang="en-US" sz="1150" dirty="0">
                <a:solidFill>
                  <a:schemeClr val="tx1"/>
                </a:solidFill>
                <a:latin typeface="Courier New" pitchFamily="34" charset="0"/>
                <a:ea typeface="Courier New" pitchFamily="34" charset="-122"/>
                <a:cs typeface="Courier New" pitchFamily="34" charset="-120"/>
              </a:rPr>
              <a:t> 8),</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faculty_id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FOREIGN</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KEY</a:t>
            </a:r>
            <a:r>
              <a:rPr lang="en-US" sz="1150" dirty="0">
                <a:solidFill>
                  <a:schemeClr val="tx1"/>
                </a:solidFill>
                <a:latin typeface="Courier New" pitchFamily="34" charset="0"/>
                <a:ea typeface="Courier New" pitchFamily="34" charset="-122"/>
                <a:cs typeface="Courier New" pitchFamily="34" charset="-120"/>
              </a:rPr>
              <a:t> (faculty_id) </a:t>
            </a:r>
            <a:r>
              <a:rPr lang="en-US" sz="1150" b="1" dirty="0">
                <a:solidFill>
                  <a:schemeClr val="accent2"/>
                </a:solidFill>
                <a:latin typeface="Courier New" pitchFamily="34" charset="0"/>
                <a:ea typeface="Courier New" pitchFamily="34" charset="-122"/>
                <a:cs typeface="Courier New" pitchFamily="34" charset="-120"/>
              </a:rPr>
              <a:t>REFERENCES</a:t>
            </a:r>
            <a:r>
              <a:rPr lang="en-US" sz="1150" dirty="0">
                <a:solidFill>
                  <a:schemeClr val="tx1"/>
                </a:solidFill>
                <a:latin typeface="Courier New" pitchFamily="34" charset="0"/>
                <a:ea typeface="Courier New" pitchFamily="34" charset="-122"/>
                <a:cs typeface="Courier New" pitchFamily="34" charset="-120"/>
              </a:rPr>
              <a:t> Faculty(faculty_id)</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a:t>
            </a:r>
            <a:endParaRPr lang="en-US" sz="1150" dirty="0"/>
          </a:p>
        </p:txBody>
      </p:sp>
      <p:sp>
        <p:nvSpPr>
          <p:cNvPr id="9" name="Attendance DDL panel"/>
          <p:cNvSpPr/>
          <p:nvPr/>
        </p:nvSpPr>
        <p:spPr>
          <a:xfrm>
            <a:off x="6153912" y="1234440"/>
            <a:ext cx="5577840" cy="3200400"/>
          </a:xfrm>
          <a:prstGeom prst="roundRect">
            <a:avLst>
              <a:gd name="adj" fmla="val 2286"/>
            </a:avLst>
          </a:prstGeom>
          <a:solidFill>
            <a:schemeClr val="bg2"/>
          </a:solidFill>
          <a:ln/>
        </p:spPr>
      </p:sp>
      <p:sp>
        <p:nvSpPr>
          <p:cNvPr id="10" name="Attendance DDL label"/>
          <p:cNvSpPr txBox="1"/>
          <p:nvPr/>
        </p:nvSpPr>
        <p:spPr>
          <a:xfrm>
            <a:off x="6336792" y="1325880"/>
            <a:ext cx="5212080" cy="292608"/>
          </a:xfrm>
          <a:prstGeom prst="rect">
            <a:avLst/>
          </a:prstGeom>
          <a:noFill/>
          <a:ln/>
        </p:spPr>
        <p:txBody>
          <a:bodyPr wrap="square" lIns="0" tIns="0" rIns="0" bIns="0" rtlCol="0" anchor="ctr"/>
          <a:lstStyle/>
          <a:p>
            <a:pPr marL="0" indent="0">
              <a:buNone/>
            </a:pPr>
            <a:r>
              <a:rPr lang="en-US" sz="1500" b="1" dirty="0">
                <a:solidFill>
                  <a:schemeClr val="accent1"/>
                </a:solidFill>
              </a:rPr>
              <a:t>Attendance_Logs table</a:t>
            </a:r>
            <a:endParaRPr lang="en-US" sz="1500" dirty="0"/>
          </a:p>
        </p:txBody>
      </p:sp>
      <p:sp>
        <p:nvSpPr>
          <p:cNvPr id="11" name="Attendance DDL code"/>
          <p:cNvSpPr txBox="1"/>
          <p:nvPr/>
        </p:nvSpPr>
        <p:spPr>
          <a:xfrm>
            <a:off x="6336792" y="1673352"/>
            <a:ext cx="5212080" cy="2670048"/>
          </a:xfrm>
          <a:prstGeom prst="rect">
            <a:avLst/>
          </a:prstGeom>
          <a:noFill/>
          <a:ln/>
        </p:spPr>
        <p:txBody>
          <a:bodyPr wrap="square" lIns="0" tIns="0" rIns="0" bIns="0" rtlCol="0" anchor="t"/>
          <a:lstStyle/>
          <a:p>
            <a:pPr marL="0" indent="0">
              <a:buNone/>
            </a:pPr>
            <a:r>
              <a:rPr lang="en-US" sz="1150" b="1" dirty="0">
                <a:solidFill>
                  <a:schemeClr val="accent2"/>
                </a:solidFill>
                <a:latin typeface="Courier New" pitchFamily="34" charset="0"/>
                <a:ea typeface="Courier New" pitchFamily="34" charset="-122"/>
                <a:cs typeface="Courier New" pitchFamily="34" charset="-120"/>
              </a:rPr>
              <a:t>CREATE</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TABLE</a:t>
            </a:r>
            <a:r>
              <a:rPr lang="en-US" sz="1150" dirty="0">
                <a:solidFill>
                  <a:schemeClr val="tx1"/>
                </a:solidFill>
                <a:latin typeface="Courier New" pitchFamily="34" charset="0"/>
                <a:ea typeface="Courier New" pitchFamily="34" charset="-122"/>
                <a:cs typeface="Courier New" pitchFamily="34" charset="-120"/>
              </a:rPr>
              <a:t> Attendance_Logs (</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log_id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PRIMARY</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KEY</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AUTOINCREMENT</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student_id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course_id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marked_by </a:t>
            </a:r>
            <a:r>
              <a:rPr lang="en-US" sz="1150" b="1" dirty="0">
                <a:solidFill>
                  <a:schemeClr val="accent2"/>
                </a:solidFill>
                <a:latin typeface="Courier New" pitchFamily="34" charset="0"/>
                <a:ea typeface="Courier New" pitchFamily="34" charset="-122"/>
                <a:cs typeface="Courier New" pitchFamily="34" charset="-120"/>
              </a:rPr>
              <a:t>INTEGER</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attendance_date </a:t>
            </a:r>
            <a:r>
              <a:rPr lang="en-US" sz="1150" b="1" dirty="0">
                <a:solidFill>
                  <a:schemeClr val="accent2"/>
                </a:solidFill>
                <a:latin typeface="Courier New" pitchFamily="34" charset="0"/>
                <a:ea typeface="Courier New" pitchFamily="34" charset="-122"/>
                <a:cs typeface="Courier New" pitchFamily="34" charset="-120"/>
              </a:rPr>
              <a:t>TEXT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status </a:t>
            </a:r>
            <a:r>
              <a:rPr lang="en-US" sz="1150" b="1" dirty="0">
                <a:solidFill>
                  <a:schemeClr val="accent2"/>
                </a:solidFill>
                <a:latin typeface="Courier New" pitchFamily="34" charset="0"/>
                <a:ea typeface="Courier New" pitchFamily="34" charset="-122"/>
                <a:cs typeface="Courier New" pitchFamily="34" charset="-120"/>
              </a:rPr>
              <a:t>TEXT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NOT</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NULL</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CHECK</a:t>
            </a:r>
            <a:r>
              <a:rPr lang="en-US" sz="1150" dirty="0">
                <a:solidFill>
                  <a:schemeClr val="tx1"/>
                </a:solidFill>
                <a:latin typeface="Courier New" pitchFamily="34" charset="0"/>
                <a:ea typeface="Courier New" pitchFamily="34" charset="-122"/>
                <a:cs typeface="Courier New" pitchFamily="34" charset="-120"/>
              </a:rPr>
              <a:t> (status </a:t>
            </a:r>
            <a:r>
              <a:rPr lang="en-US" sz="1150" b="1" dirty="0">
                <a:solidFill>
                  <a:schemeClr val="accent2"/>
                </a:solidFill>
                <a:latin typeface="Courier New" pitchFamily="34" charset="0"/>
                <a:ea typeface="Courier New" pitchFamily="34" charset="-122"/>
                <a:cs typeface="Courier New" pitchFamily="34" charset="-120"/>
              </a:rPr>
              <a:t>IN</a:t>
            </a:r>
            <a:r>
              <a:rPr lang="en-US" sz="1150" dirty="0">
                <a:solidFill>
                  <a:schemeClr val="tx1"/>
                </a:solidFill>
                <a:latin typeface="Courier New" pitchFamily="34" charset="0"/>
                <a:ea typeface="Courier New" pitchFamily="34" charset="-122"/>
                <a:cs typeface="Courier New" pitchFamily="34" charset="-120"/>
              </a:rPr>
              <a:t> ('Present', 'Absent')),</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FOREIGN</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KEY</a:t>
            </a:r>
            <a:r>
              <a:rPr lang="en-US" sz="1150" dirty="0">
                <a:solidFill>
                  <a:schemeClr val="tx1"/>
                </a:solidFill>
                <a:latin typeface="Courier New" pitchFamily="34" charset="0"/>
                <a:ea typeface="Courier New" pitchFamily="34" charset="-122"/>
                <a:cs typeface="Courier New" pitchFamily="34" charset="-120"/>
              </a:rPr>
              <a:t> (student_id) </a:t>
            </a:r>
            <a:r>
              <a:rPr lang="en-US" sz="1150" b="1" dirty="0">
                <a:solidFill>
                  <a:schemeClr val="accent2"/>
                </a:solidFill>
                <a:latin typeface="Courier New" pitchFamily="34" charset="0"/>
                <a:ea typeface="Courier New" pitchFamily="34" charset="-122"/>
                <a:cs typeface="Courier New" pitchFamily="34" charset="-120"/>
              </a:rPr>
              <a:t>REFERENCES</a:t>
            </a:r>
            <a:r>
              <a:rPr lang="en-US" sz="1150" dirty="0">
                <a:solidFill>
                  <a:schemeClr val="tx1"/>
                </a:solidFill>
                <a:latin typeface="Courier New" pitchFamily="34" charset="0"/>
                <a:ea typeface="Courier New" pitchFamily="34" charset="-122"/>
                <a:cs typeface="Courier New" pitchFamily="34" charset="-120"/>
              </a:rPr>
              <a:t> Students(student_id),</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FOREIGN</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KEY</a:t>
            </a:r>
            <a:r>
              <a:rPr lang="en-US" sz="1150" dirty="0">
                <a:solidFill>
                  <a:schemeClr val="tx1"/>
                </a:solidFill>
                <a:latin typeface="Courier New" pitchFamily="34" charset="0"/>
                <a:ea typeface="Courier New" pitchFamily="34" charset="-122"/>
                <a:cs typeface="Courier New" pitchFamily="34" charset="-120"/>
              </a:rPr>
              <a:t> (course_id) </a:t>
            </a:r>
            <a:r>
              <a:rPr lang="en-US" sz="1150" b="1" dirty="0">
                <a:solidFill>
                  <a:schemeClr val="accent2"/>
                </a:solidFill>
                <a:latin typeface="Courier New" pitchFamily="34" charset="0"/>
                <a:ea typeface="Courier New" pitchFamily="34" charset="-122"/>
                <a:cs typeface="Courier New" pitchFamily="34" charset="-120"/>
              </a:rPr>
              <a:t>REFERENCES</a:t>
            </a:r>
            <a:r>
              <a:rPr lang="en-US" sz="1150" dirty="0">
                <a:solidFill>
                  <a:schemeClr val="tx1"/>
                </a:solidFill>
                <a:latin typeface="Courier New" pitchFamily="34" charset="0"/>
                <a:ea typeface="Courier New" pitchFamily="34" charset="-122"/>
                <a:cs typeface="Courier New" pitchFamily="34" charset="-120"/>
              </a:rPr>
              <a:t> Courses(course_id),</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FOREIGN</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KEY</a:t>
            </a:r>
            <a:r>
              <a:rPr lang="en-US" sz="1150" dirty="0">
                <a:solidFill>
                  <a:schemeClr val="tx1"/>
                </a:solidFill>
                <a:latin typeface="Courier New" pitchFamily="34" charset="0"/>
                <a:ea typeface="Courier New" pitchFamily="34" charset="-122"/>
                <a:cs typeface="Courier New" pitchFamily="34" charset="-120"/>
              </a:rPr>
              <a:t> (marked_by) </a:t>
            </a:r>
            <a:r>
              <a:rPr lang="en-US" sz="1150" b="1" dirty="0">
                <a:solidFill>
                  <a:schemeClr val="accent2"/>
                </a:solidFill>
                <a:latin typeface="Courier New" pitchFamily="34" charset="0"/>
                <a:ea typeface="Courier New" pitchFamily="34" charset="-122"/>
                <a:cs typeface="Courier New" pitchFamily="34" charset="-120"/>
              </a:rPr>
              <a:t>REFERENCES</a:t>
            </a:r>
            <a:r>
              <a:rPr lang="en-US" sz="1150" dirty="0">
                <a:solidFill>
                  <a:schemeClr val="tx1"/>
                </a:solidFill>
                <a:latin typeface="Courier New" pitchFamily="34" charset="0"/>
                <a:ea typeface="Courier New" pitchFamily="34" charset="-122"/>
                <a:cs typeface="Courier New" pitchFamily="34" charset="-120"/>
              </a:rPr>
              <a:t> Faculty(faculty_id),</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2"/>
                </a:solidFill>
                <a:latin typeface="Courier New" pitchFamily="34" charset="0"/>
                <a:ea typeface="Courier New" pitchFamily="34" charset="-122"/>
                <a:cs typeface="Courier New" pitchFamily="34" charset="-120"/>
              </a:rPr>
              <a:t>UNIQUE</a:t>
            </a:r>
            <a:r>
              <a:rPr lang="en-US" sz="1150" dirty="0">
                <a:solidFill>
                  <a:schemeClr val="tx1"/>
                </a:solidFill>
                <a:latin typeface="Courier New" pitchFamily="34" charset="0"/>
                <a:ea typeface="Courier New" pitchFamily="34" charset="-122"/>
                <a:cs typeface="Courier New" pitchFamily="34" charset="-120"/>
              </a:rPr>
              <a:t> (student_id, course_id, attendance_date)</a:t>
            </a:r>
            <a:endParaRPr lang="en-US" sz="1150" dirty="0"/>
          </a:p>
          <a:p>
            <a:pPr marL="0" indent="0">
              <a:buNone/>
            </a:pPr>
            <a:r>
              <a:rPr lang="en-US" sz="1150" dirty="0">
                <a:solidFill>
                  <a:schemeClr val="tx1"/>
                </a:solidFill>
                <a:latin typeface="Courier New" pitchFamily="34" charset="0"/>
                <a:ea typeface="Courier New" pitchFamily="34" charset="-122"/>
                <a:cs typeface="Courier New" pitchFamily="34" charset="-120"/>
              </a:rPr>
              <a:t>);</a:t>
            </a:r>
            <a:endParaRPr lang="en-US" sz="1150" dirty="0"/>
          </a:p>
        </p:txBody>
      </p:sp>
      <p:sp>
        <p:nvSpPr>
          <p:cNvPr id="12" name="PK &amp; FK callout"/>
          <p:cNvSpPr/>
          <p:nvPr/>
        </p:nvSpPr>
        <p:spPr>
          <a:xfrm>
            <a:off x="6153912" y="4572000"/>
            <a:ext cx="1737360" cy="1691640"/>
          </a:xfrm>
          <a:prstGeom prst="roundRect">
            <a:avLst>
              <a:gd name="adj" fmla="val 4324"/>
            </a:avLst>
          </a:prstGeom>
          <a:solidFill>
            <a:schemeClr val="bg2"/>
          </a:solidFill>
          <a:ln/>
        </p:spPr>
      </p:sp>
      <p:sp>
        <p:nvSpPr>
          <p:cNvPr id="13" name="PK &amp; FK text"/>
          <p:cNvSpPr txBox="1"/>
          <p:nvPr/>
        </p:nvSpPr>
        <p:spPr>
          <a:xfrm>
            <a:off x="6263640" y="4663440"/>
            <a:ext cx="1517904" cy="150876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rPr>
              <a:t>PK &amp; FK</a:t>
            </a:r>
            <a:endParaRPr lang="en-US" sz="1500" dirty="0"/>
          </a:p>
          <a:p>
            <a:pPr marL="0" indent="0">
              <a:buNone/>
            </a:pPr>
            <a:r>
              <a:rPr lang="en-US" sz="1400" dirty="0">
                <a:solidFill>
                  <a:schemeClr val="tx1"/>
                </a:solidFill>
              </a:rPr>
              <a:t>Every row is unique and linked to valid records</a:t>
            </a:r>
            <a:endParaRPr lang="en-US" sz="1500" dirty="0"/>
          </a:p>
        </p:txBody>
      </p:sp>
      <p:sp>
        <p:nvSpPr>
          <p:cNvPr id="14" name="UNIQUE callout"/>
          <p:cNvSpPr/>
          <p:nvPr/>
        </p:nvSpPr>
        <p:spPr>
          <a:xfrm>
            <a:off x="8074152" y="4572000"/>
            <a:ext cx="1737360" cy="1691640"/>
          </a:xfrm>
          <a:prstGeom prst="roundRect">
            <a:avLst>
              <a:gd name="adj" fmla="val 4324"/>
            </a:avLst>
          </a:prstGeom>
          <a:solidFill>
            <a:schemeClr val="bg2"/>
          </a:solidFill>
          <a:ln/>
        </p:spPr>
      </p:sp>
      <p:sp>
        <p:nvSpPr>
          <p:cNvPr id="15" name="UNIQUE text"/>
          <p:cNvSpPr txBox="1"/>
          <p:nvPr/>
        </p:nvSpPr>
        <p:spPr>
          <a:xfrm>
            <a:off x="8183880" y="4663440"/>
            <a:ext cx="1517904" cy="150876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rPr>
              <a:t>UNIQUE</a:t>
            </a:r>
            <a:endParaRPr lang="en-US" sz="1500" dirty="0"/>
          </a:p>
          <a:p>
            <a:pPr marL="0" indent="0">
              <a:buNone/>
            </a:pPr>
            <a:r>
              <a:rPr lang="en-US" sz="1400" dirty="0">
                <a:solidFill>
                  <a:schemeClr val="tx1"/>
                </a:solidFill>
              </a:rPr>
              <a:t>No duplicate attendance for the same student, course and date</a:t>
            </a:r>
            <a:endParaRPr lang="en-US" sz="1500" dirty="0"/>
          </a:p>
        </p:txBody>
      </p:sp>
      <p:sp>
        <p:nvSpPr>
          <p:cNvPr id="16" name="CHECK callout"/>
          <p:cNvSpPr/>
          <p:nvPr/>
        </p:nvSpPr>
        <p:spPr>
          <a:xfrm>
            <a:off x="9994392" y="4572000"/>
            <a:ext cx="1737360" cy="1691640"/>
          </a:xfrm>
          <a:prstGeom prst="roundRect">
            <a:avLst>
              <a:gd name="adj" fmla="val 4324"/>
            </a:avLst>
          </a:prstGeom>
          <a:solidFill>
            <a:schemeClr val="bg2"/>
          </a:solidFill>
          <a:ln/>
        </p:spPr>
      </p:sp>
      <p:sp>
        <p:nvSpPr>
          <p:cNvPr id="17" name="CHECK text"/>
          <p:cNvSpPr txBox="1"/>
          <p:nvPr/>
        </p:nvSpPr>
        <p:spPr>
          <a:xfrm>
            <a:off x="10104120" y="4663440"/>
            <a:ext cx="1517904" cy="1508760"/>
          </a:xfrm>
          <a:prstGeom prst="rect">
            <a:avLst/>
          </a:prstGeom>
          <a:noFill/>
          <a:ln/>
        </p:spPr>
        <p:txBody>
          <a:bodyPr wrap="square" lIns="0" tIns="0" rIns="0" bIns="0" rtlCol="0" anchor="t"/>
          <a:lstStyle/>
          <a:p>
            <a:pPr marL="0" indent="0">
              <a:spcAft>
                <a:spcPts val="400"/>
              </a:spcAft>
              <a:buNone/>
            </a:pPr>
            <a:r>
              <a:rPr lang="en-US" sz="1500" b="1" dirty="0">
                <a:solidFill>
                  <a:schemeClr val="accent1"/>
                </a:solidFill>
              </a:rPr>
              <a:t>CHECK</a:t>
            </a:r>
            <a:endParaRPr lang="en-US" sz="1500" dirty="0"/>
          </a:p>
          <a:p>
            <a:pPr marL="0" indent="0">
              <a:buNone/>
            </a:pPr>
            <a:r>
              <a:rPr lang="en-US" sz="1400" dirty="0">
                <a:solidFill>
                  <a:schemeClr val="tx1"/>
                </a:solidFill>
              </a:rPr>
              <a:t>Status only Present or Absent; semester 1 to 8</a:t>
            </a:r>
            <a:endParaRPr lang="en-US" sz="1500" dirty="0"/>
          </a:p>
        </p:txBody>
      </p:sp>
      <p:sp>
        <p:nvSpPr>
          <p:cNvPr id="25"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SQL Implementation: Queries (DML)</a:t>
            </a:r>
            <a:endParaRPr lang="en-US" sz="3400" dirty="0"/>
          </a:p>
        </p:txBody>
      </p:sp>
      <p:sp>
        <p:nvSpPr>
          <p:cNvPr id="3" name="Query 1 panel"/>
          <p:cNvSpPr/>
          <p:nvPr/>
        </p:nvSpPr>
        <p:spPr>
          <a:xfrm>
            <a:off x="457200" y="1234440"/>
            <a:ext cx="5577840" cy="2468880"/>
          </a:xfrm>
          <a:prstGeom prst="roundRect">
            <a:avLst>
              <a:gd name="adj" fmla="val 2963"/>
            </a:avLst>
          </a:prstGeom>
          <a:solidFill>
            <a:schemeClr val="bg2"/>
          </a:solidFill>
          <a:ln/>
        </p:spPr>
      </p:sp>
      <p:sp>
        <p:nvSpPr>
          <p:cNvPr id="4" name="Query 1 label"/>
          <p:cNvSpPr txBox="1"/>
          <p:nvPr/>
        </p:nvSpPr>
        <p:spPr>
          <a:xfrm>
            <a:off x="640080" y="1325880"/>
            <a:ext cx="5212080" cy="292608"/>
          </a:xfrm>
          <a:prstGeom prst="rect">
            <a:avLst/>
          </a:prstGeom>
          <a:noFill/>
          <a:ln/>
        </p:spPr>
        <p:txBody>
          <a:bodyPr wrap="square" lIns="0" tIns="0" rIns="0" bIns="0" rtlCol="0" anchor="ctr"/>
          <a:lstStyle/>
          <a:p>
            <a:pPr marL="0" indent="0">
              <a:buNone/>
            </a:pPr>
            <a:r>
              <a:rPr lang="en-US" sz="1500" b="1" dirty="0">
                <a:solidFill>
                  <a:schemeClr val="accent1"/>
                </a:solidFill>
              </a:rPr>
              <a:t>1  Attendance summary (view)</a:t>
            </a:r>
            <a:endParaRPr lang="en-US" sz="1500" dirty="0"/>
          </a:p>
        </p:txBody>
      </p:sp>
      <p:sp>
        <p:nvSpPr>
          <p:cNvPr id="5" name="Query 1 caption"/>
          <p:cNvSpPr txBox="1"/>
          <p:nvPr/>
        </p:nvSpPr>
        <p:spPr>
          <a:xfrm>
            <a:off x="640080" y="1618488"/>
            <a:ext cx="5212080" cy="274320"/>
          </a:xfrm>
          <a:prstGeom prst="rect">
            <a:avLst/>
          </a:prstGeom>
          <a:noFill/>
          <a:ln/>
        </p:spPr>
        <p:txBody>
          <a:bodyPr wrap="square" lIns="0" tIns="0" rIns="0" bIns="0" rtlCol="0" anchor="ctr"/>
          <a:lstStyle/>
          <a:p>
            <a:pPr marL="0" indent="0">
              <a:buNone/>
            </a:pPr>
            <a:r>
              <a:rPr lang="en-US" sz="1300" dirty="0">
                <a:solidFill>
                  <a:schemeClr val="accent2"/>
                </a:solidFill>
              </a:rPr>
              <a:t>Total classes, attended, % and eligibility status</a:t>
            </a:r>
            <a:endParaRPr lang="en-US" sz="1300" dirty="0"/>
          </a:p>
        </p:txBody>
      </p:sp>
      <p:sp>
        <p:nvSpPr>
          <p:cNvPr id="6" name="Query 1 code"/>
          <p:cNvSpPr txBox="1"/>
          <p:nvPr/>
        </p:nvSpPr>
        <p:spPr>
          <a:xfrm>
            <a:off x="640080" y="1947672"/>
            <a:ext cx="5212080" cy="1664208"/>
          </a:xfrm>
          <a:prstGeom prst="rect">
            <a:avLst/>
          </a:prstGeom>
          <a:noFill/>
          <a:ln/>
        </p:spPr>
        <p:txBody>
          <a:bodyPr wrap="square" lIns="0" tIns="0" rIns="0" bIns="0" rtlCol="0" anchor="t"/>
          <a:lstStyle/>
          <a:p>
            <a:pPr marL="0" indent="0">
              <a:buNone/>
            </a:pPr>
            <a:r>
              <a:rPr lang="en-US" sz="1300" b="1" dirty="0">
                <a:solidFill>
                  <a:schemeClr val="accent2"/>
                </a:solidFill>
                <a:latin typeface="Courier New" pitchFamily="34" charset="0"/>
                <a:ea typeface="Courier New" pitchFamily="34" charset="-122"/>
                <a:cs typeface="Courier New" pitchFamily="34" charset="-120"/>
              </a:rPr>
              <a:t>SELECT</a:t>
            </a:r>
            <a:r>
              <a:rPr lang="en-US" sz="1300" dirty="0">
                <a:solidFill>
                  <a:schemeClr val="tx1"/>
                </a:solidFill>
                <a:latin typeface="Courier New" pitchFamily="34" charset="0"/>
                <a:ea typeface="Courier New" pitchFamily="34" charset="-122"/>
                <a:cs typeface="Courier New" pitchFamily="34" charset="-120"/>
              </a:rPr>
              <a:t> roll_no, student_name, course_code,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total_classes, classes_attended,</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percentage, criteria_status</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FROM</a:t>
            </a:r>
            <a:r>
              <a:rPr lang="en-US" sz="1300" dirty="0">
                <a:solidFill>
                  <a:schemeClr val="tx1"/>
                </a:solidFill>
                <a:latin typeface="Courier New" pitchFamily="34" charset="0"/>
                <a:ea typeface="Courier New" pitchFamily="34" charset="-122"/>
                <a:cs typeface="Courier New" pitchFamily="34" charset="-120"/>
              </a:rPr>
              <a:t> v_attendance_summary</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ORDER</a:t>
            </a:r>
            <a:r>
              <a:rPr lang="en-US" sz="1300" dirty="0">
                <a:solidFill>
                  <a:schemeClr val="tx1"/>
                </a:solidFill>
                <a:latin typeface="Courier New" pitchFamily="34" charset="0"/>
                <a:ea typeface="Courier New" pitchFamily="34" charset="-122"/>
                <a:cs typeface="Courier New" pitchFamily="34" charset="-120"/>
              </a:rPr>
              <a:t> </a:t>
            </a:r>
            <a:r>
              <a:rPr lang="en-US" sz="1300" b="1" dirty="0">
                <a:solidFill>
                  <a:schemeClr val="accent2"/>
                </a:solidFill>
                <a:latin typeface="Courier New" pitchFamily="34" charset="0"/>
                <a:ea typeface="Courier New" pitchFamily="34" charset="-122"/>
                <a:cs typeface="Courier New" pitchFamily="34" charset="-120"/>
              </a:rPr>
              <a:t>BY</a:t>
            </a:r>
            <a:r>
              <a:rPr lang="en-US" sz="1300" dirty="0">
                <a:solidFill>
                  <a:schemeClr val="tx1"/>
                </a:solidFill>
                <a:latin typeface="Courier New" pitchFamily="34" charset="0"/>
                <a:ea typeface="Courier New" pitchFamily="34" charset="-122"/>
                <a:cs typeface="Courier New" pitchFamily="34" charset="-120"/>
              </a:rPr>
              <a:t> roll_no, course_code;</a:t>
            </a:r>
            <a:endParaRPr lang="en-US" sz="1300" dirty="0"/>
          </a:p>
        </p:txBody>
      </p:sp>
      <p:sp>
        <p:nvSpPr>
          <p:cNvPr id="7" name="Query 2 panel"/>
          <p:cNvSpPr/>
          <p:nvPr/>
        </p:nvSpPr>
        <p:spPr>
          <a:xfrm>
            <a:off x="6153912" y="1234440"/>
            <a:ext cx="5577840" cy="2468880"/>
          </a:xfrm>
          <a:prstGeom prst="roundRect">
            <a:avLst>
              <a:gd name="adj" fmla="val 2963"/>
            </a:avLst>
          </a:prstGeom>
          <a:solidFill>
            <a:schemeClr val="bg2"/>
          </a:solidFill>
          <a:ln/>
        </p:spPr>
      </p:sp>
      <p:sp>
        <p:nvSpPr>
          <p:cNvPr id="8" name="Query 2 label"/>
          <p:cNvSpPr txBox="1"/>
          <p:nvPr/>
        </p:nvSpPr>
        <p:spPr>
          <a:xfrm>
            <a:off x="6336792" y="1325880"/>
            <a:ext cx="5212080" cy="292608"/>
          </a:xfrm>
          <a:prstGeom prst="rect">
            <a:avLst/>
          </a:prstGeom>
          <a:noFill/>
          <a:ln/>
        </p:spPr>
        <p:txBody>
          <a:bodyPr wrap="square" lIns="0" tIns="0" rIns="0" bIns="0" rtlCol="0" anchor="ctr"/>
          <a:lstStyle/>
          <a:p>
            <a:pPr marL="0" indent="0">
              <a:buNone/>
            </a:pPr>
            <a:r>
              <a:rPr lang="en-US" sz="1500" b="1" dirty="0">
                <a:solidFill>
                  <a:schemeClr val="accent1"/>
                </a:solidFill>
              </a:rPr>
              <a:t>2  Students below 75%</a:t>
            </a:r>
            <a:endParaRPr lang="en-US" sz="1500" dirty="0"/>
          </a:p>
        </p:txBody>
      </p:sp>
      <p:sp>
        <p:nvSpPr>
          <p:cNvPr id="9" name="Query 2 caption"/>
          <p:cNvSpPr txBox="1"/>
          <p:nvPr/>
        </p:nvSpPr>
        <p:spPr>
          <a:xfrm>
            <a:off x="6336792" y="1618488"/>
            <a:ext cx="5212080" cy="274320"/>
          </a:xfrm>
          <a:prstGeom prst="rect">
            <a:avLst/>
          </a:prstGeom>
          <a:noFill/>
          <a:ln/>
        </p:spPr>
        <p:txBody>
          <a:bodyPr wrap="square" lIns="0" tIns="0" rIns="0" bIns="0" rtlCol="0" anchor="ctr"/>
          <a:lstStyle/>
          <a:p>
            <a:pPr marL="0" indent="0">
              <a:buNone/>
            </a:pPr>
            <a:r>
              <a:rPr lang="en-US" sz="1300" dirty="0">
                <a:solidFill>
                  <a:schemeClr val="accent2"/>
                </a:solidFill>
              </a:rPr>
              <a:t>Defaulter list, lowest percentage first</a:t>
            </a:r>
            <a:endParaRPr lang="en-US" sz="1300" dirty="0"/>
          </a:p>
        </p:txBody>
      </p:sp>
      <p:sp>
        <p:nvSpPr>
          <p:cNvPr id="10" name="Query 2 code"/>
          <p:cNvSpPr txBox="1"/>
          <p:nvPr/>
        </p:nvSpPr>
        <p:spPr>
          <a:xfrm>
            <a:off x="6336792" y="1947672"/>
            <a:ext cx="5212080" cy="1664208"/>
          </a:xfrm>
          <a:prstGeom prst="rect">
            <a:avLst/>
          </a:prstGeom>
          <a:noFill/>
          <a:ln/>
        </p:spPr>
        <p:txBody>
          <a:bodyPr wrap="square" lIns="0" tIns="0" rIns="0" bIns="0" rtlCol="0" anchor="t"/>
          <a:lstStyle/>
          <a:p>
            <a:pPr marL="0" indent="0">
              <a:buNone/>
            </a:pPr>
            <a:r>
              <a:rPr lang="en-US" sz="1300" b="1" dirty="0">
                <a:solidFill>
                  <a:schemeClr val="accent2"/>
                </a:solidFill>
                <a:latin typeface="Courier New" pitchFamily="34" charset="0"/>
                <a:ea typeface="Courier New" pitchFamily="34" charset="-122"/>
                <a:cs typeface="Courier New" pitchFamily="34" charset="-120"/>
              </a:rPr>
              <a:t>SELECT</a:t>
            </a:r>
            <a:r>
              <a:rPr lang="en-US" sz="1300" dirty="0">
                <a:solidFill>
                  <a:schemeClr val="tx1"/>
                </a:solidFill>
                <a:latin typeface="Courier New" pitchFamily="34" charset="0"/>
                <a:ea typeface="Courier New" pitchFamily="34" charset="-122"/>
                <a:cs typeface="Courier New" pitchFamily="34" charset="-120"/>
              </a:rPr>
              <a:t> roll_no, student_name, course_code,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percentage, criteria_status</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FROM</a:t>
            </a:r>
            <a:r>
              <a:rPr lang="en-US" sz="1300" dirty="0">
                <a:solidFill>
                  <a:schemeClr val="tx1"/>
                </a:solidFill>
                <a:latin typeface="Courier New" pitchFamily="34" charset="0"/>
                <a:ea typeface="Courier New" pitchFamily="34" charset="-122"/>
                <a:cs typeface="Courier New" pitchFamily="34" charset="-120"/>
              </a:rPr>
              <a:t> v_attendance_summary</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WHERE</a:t>
            </a:r>
            <a:r>
              <a:rPr lang="en-US" sz="1300" dirty="0">
                <a:solidFill>
                  <a:schemeClr val="tx1"/>
                </a:solidFill>
                <a:latin typeface="Courier New" pitchFamily="34" charset="0"/>
                <a:ea typeface="Courier New" pitchFamily="34" charset="-122"/>
                <a:cs typeface="Courier New" pitchFamily="34" charset="-120"/>
              </a:rPr>
              <a:t> percentage &lt; 75</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ORDER</a:t>
            </a:r>
            <a:r>
              <a:rPr lang="en-US" sz="1300" dirty="0">
                <a:solidFill>
                  <a:schemeClr val="tx1"/>
                </a:solidFill>
                <a:latin typeface="Courier New" pitchFamily="34" charset="0"/>
                <a:ea typeface="Courier New" pitchFamily="34" charset="-122"/>
                <a:cs typeface="Courier New" pitchFamily="34" charset="-120"/>
              </a:rPr>
              <a:t> </a:t>
            </a:r>
            <a:r>
              <a:rPr lang="en-US" sz="1300" b="1" dirty="0">
                <a:solidFill>
                  <a:schemeClr val="accent2"/>
                </a:solidFill>
                <a:latin typeface="Courier New" pitchFamily="34" charset="0"/>
                <a:ea typeface="Courier New" pitchFamily="34" charset="-122"/>
                <a:cs typeface="Courier New" pitchFamily="34" charset="-120"/>
              </a:rPr>
              <a:t>BY</a:t>
            </a:r>
            <a:r>
              <a:rPr lang="en-US" sz="1300" dirty="0">
                <a:solidFill>
                  <a:schemeClr val="tx1"/>
                </a:solidFill>
                <a:latin typeface="Courier New" pitchFamily="34" charset="0"/>
                <a:ea typeface="Courier New" pitchFamily="34" charset="-122"/>
                <a:cs typeface="Courier New" pitchFamily="34" charset="-120"/>
              </a:rPr>
              <a:t> percentage;</a:t>
            </a:r>
            <a:endParaRPr lang="en-US" sz="1300" dirty="0"/>
          </a:p>
        </p:txBody>
      </p:sp>
      <p:sp>
        <p:nvSpPr>
          <p:cNvPr id="11" name="Query 3 panel"/>
          <p:cNvSpPr/>
          <p:nvPr/>
        </p:nvSpPr>
        <p:spPr>
          <a:xfrm>
            <a:off x="457200" y="3840480"/>
            <a:ext cx="5577840" cy="2423160"/>
          </a:xfrm>
          <a:prstGeom prst="roundRect">
            <a:avLst>
              <a:gd name="adj" fmla="val 3019"/>
            </a:avLst>
          </a:prstGeom>
          <a:solidFill>
            <a:schemeClr val="bg2"/>
          </a:solidFill>
          <a:ln/>
        </p:spPr>
      </p:sp>
      <p:sp>
        <p:nvSpPr>
          <p:cNvPr id="12" name="Query 3 label"/>
          <p:cNvSpPr txBox="1"/>
          <p:nvPr/>
        </p:nvSpPr>
        <p:spPr>
          <a:xfrm>
            <a:off x="640080" y="3931920"/>
            <a:ext cx="5212080" cy="292608"/>
          </a:xfrm>
          <a:prstGeom prst="rect">
            <a:avLst/>
          </a:prstGeom>
          <a:noFill/>
          <a:ln/>
        </p:spPr>
        <p:txBody>
          <a:bodyPr wrap="square" lIns="0" tIns="0" rIns="0" bIns="0" rtlCol="0" anchor="ctr"/>
          <a:lstStyle/>
          <a:p>
            <a:pPr marL="0" indent="0">
              <a:buNone/>
            </a:pPr>
            <a:r>
              <a:rPr lang="en-US" sz="1500" b="1" dirty="0">
                <a:solidFill>
                  <a:schemeClr val="accent1"/>
                </a:solidFill>
              </a:rPr>
              <a:t>3  Absentees on a selected date (JOIN)</a:t>
            </a:r>
            <a:endParaRPr lang="en-US" sz="1500" dirty="0"/>
          </a:p>
        </p:txBody>
      </p:sp>
      <p:sp>
        <p:nvSpPr>
          <p:cNvPr id="13" name="Query 3 caption"/>
          <p:cNvSpPr txBox="1"/>
          <p:nvPr/>
        </p:nvSpPr>
        <p:spPr>
          <a:xfrm>
            <a:off x="640080" y="4224528"/>
            <a:ext cx="5212080" cy="274320"/>
          </a:xfrm>
          <a:prstGeom prst="rect">
            <a:avLst/>
          </a:prstGeom>
          <a:noFill/>
          <a:ln/>
        </p:spPr>
        <p:txBody>
          <a:bodyPr wrap="square" lIns="0" tIns="0" rIns="0" bIns="0" rtlCol="0" anchor="ctr"/>
          <a:lstStyle/>
          <a:p>
            <a:pPr marL="0" indent="0">
              <a:buNone/>
            </a:pPr>
            <a:r>
              <a:rPr lang="en-US" sz="1300" dirty="0">
                <a:solidFill>
                  <a:schemeClr val="accent2"/>
                </a:solidFill>
              </a:rPr>
              <a:t>Joins three tables to list who was absent</a:t>
            </a:r>
            <a:endParaRPr lang="en-US" sz="1300" dirty="0"/>
          </a:p>
        </p:txBody>
      </p:sp>
      <p:sp>
        <p:nvSpPr>
          <p:cNvPr id="14" name="Query 3 code"/>
          <p:cNvSpPr txBox="1"/>
          <p:nvPr/>
        </p:nvSpPr>
        <p:spPr>
          <a:xfrm>
            <a:off x="640080" y="4553712"/>
            <a:ext cx="5212080" cy="1618488"/>
          </a:xfrm>
          <a:prstGeom prst="rect">
            <a:avLst/>
          </a:prstGeom>
          <a:noFill/>
          <a:ln/>
        </p:spPr>
        <p:txBody>
          <a:bodyPr wrap="square" lIns="0" tIns="0" rIns="0" bIns="0" rtlCol="0" anchor="t"/>
          <a:lstStyle/>
          <a:p>
            <a:pPr marL="0" indent="0">
              <a:buNone/>
            </a:pPr>
            <a:r>
              <a:rPr lang="en-US" sz="1300" b="1" dirty="0">
                <a:solidFill>
                  <a:schemeClr val="accent2"/>
                </a:solidFill>
                <a:latin typeface="Courier New" pitchFamily="34" charset="0"/>
                <a:ea typeface="Courier New" pitchFamily="34" charset="-122"/>
                <a:cs typeface="Courier New" pitchFamily="34" charset="-120"/>
              </a:rPr>
              <a:t>SELECT</a:t>
            </a:r>
            <a:r>
              <a:rPr lang="en-US" sz="1300" dirty="0">
                <a:solidFill>
                  <a:schemeClr val="tx1"/>
                </a:solidFill>
                <a:latin typeface="Courier New" pitchFamily="34" charset="0"/>
                <a:ea typeface="Courier New" pitchFamily="34" charset="-122"/>
                <a:cs typeface="Courier New" pitchFamily="34" charset="-120"/>
              </a:rPr>
              <a:t> s.roll_no, s.name,</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c.course_code, al.attendance_date</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FROM</a:t>
            </a:r>
            <a:r>
              <a:rPr lang="en-US" sz="1300" dirty="0">
                <a:solidFill>
                  <a:schemeClr val="tx1"/>
                </a:solidFill>
                <a:latin typeface="Courier New" pitchFamily="34" charset="0"/>
                <a:ea typeface="Courier New" pitchFamily="34" charset="-122"/>
                <a:cs typeface="Courier New" pitchFamily="34" charset="-120"/>
              </a:rPr>
              <a:t> Attendance_Logs al</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JOIN</a:t>
            </a:r>
            <a:r>
              <a:rPr lang="en-US" sz="1300" dirty="0">
                <a:solidFill>
                  <a:schemeClr val="tx1"/>
                </a:solidFill>
                <a:latin typeface="Courier New" pitchFamily="34" charset="0"/>
                <a:ea typeface="Courier New" pitchFamily="34" charset="-122"/>
                <a:cs typeface="Courier New" pitchFamily="34" charset="-120"/>
              </a:rPr>
              <a:t> Students s </a:t>
            </a:r>
            <a:r>
              <a:rPr lang="en-US" sz="1300" b="1" dirty="0">
                <a:solidFill>
                  <a:schemeClr val="accent2"/>
                </a:solidFill>
                <a:latin typeface="Courier New" pitchFamily="34" charset="0"/>
                <a:ea typeface="Courier New" pitchFamily="34" charset="-122"/>
                <a:cs typeface="Courier New" pitchFamily="34" charset="-120"/>
              </a:rPr>
              <a:t>ON</a:t>
            </a:r>
            <a:r>
              <a:rPr lang="en-US" sz="1300" dirty="0">
                <a:solidFill>
                  <a:schemeClr val="tx1"/>
                </a:solidFill>
                <a:latin typeface="Courier New" pitchFamily="34" charset="0"/>
                <a:ea typeface="Courier New" pitchFamily="34" charset="-122"/>
                <a:cs typeface="Courier New" pitchFamily="34" charset="-120"/>
              </a:rPr>
              <a:t> s.student_id = al.student_id</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JOIN</a:t>
            </a:r>
            <a:r>
              <a:rPr lang="en-US" sz="1300" dirty="0">
                <a:solidFill>
                  <a:schemeClr val="tx1"/>
                </a:solidFill>
                <a:latin typeface="Courier New" pitchFamily="34" charset="0"/>
                <a:ea typeface="Courier New" pitchFamily="34" charset="-122"/>
                <a:cs typeface="Courier New" pitchFamily="34" charset="-120"/>
              </a:rPr>
              <a:t> Courses c </a:t>
            </a:r>
            <a:r>
              <a:rPr lang="en-US" sz="1300" b="1" dirty="0">
                <a:solidFill>
                  <a:schemeClr val="accent2"/>
                </a:solidFill>
                <a:latin typeface="Courier New" pitchFamily="34" charset="0"/>
                <a:ea typeface="Courier New" pitchFamily="34" charset="-122"/>
                <a:cs typeface="Courier New" pitchFamily="34" charset="-120"/>
              </a:rPr>
              <a:t>ON</a:t>
            </a:r>
            <a:r>
              <a:rPr lang="en-US" sz="1300" dirty="0">
                <a:solidFill>
                  <a:schemeClr val="tx1"/>
                </a:solidFill>
                <a:latin typeface="Courier New" pitchFamily="34" charset="0"/>
                <a:ea typeface="Courier New" pitchFamily="34" charset="-122"/>
                <a:cs typeface="Courier New" pitchFamily="34" charset="-120"/>
              </a:rPr>
              <a:t> c.course_id = al.course_id</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WHERE</a:t>
            </a:r>
            <a:r>
              <a:rPr lang="en-US" sz="1300" dirty="0">
                <a:solidFill>
                  <a:schemeClr val="tx1"/>
                </a:solidFill>
                <a:latin typeface="Courier New" pitchFamily="34" charset="0"/>
                <a:ea typeface="Courier New" pitchFamily="34" charset="-122"/>
                <a:cs typeface="Courier New" pitchFamily="34" charset="-120"/>
              </a:rPr>
              <a:t> al.status = 'Absent'</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a:t>
            </a:r>
            <a:r>
              <a:rPr lang="en-US" sz="1300" b="1" dirty="0">
                <a:solidFill>
                  <a:schemeClr val="accent2"/>
                </a:solidFill>
                <a:latin typeface="Courier New" pitchFamily="34" charset="0"/>
                <a:ea typeface="Courier New" pitchFamily="34" charset="-122"/>
                <a:cs typeface="Courier New" pitchFamily="34" charset="-120"/>
              </a:rPr>
              <a:t>AND</a:t>
            </a:r>
            <a:r>
              <a:rPr lang="en-US" sz="1300" dirty="0">
                <a:solidFill>
                  <a:schemeClr val="tx1"/>
                </a:solidFill>
                <a:latin typeface="Courier New" pitchFamily="34" charset="0"/>
                <a:ea typeface="Courier New" pitchFamily="34" charset="-122"/>
                <a:cs typeface="Courier New" pitchFamily="34" charset="-120"/>
              </a:rPr>
              <a:t> c.course_code = 'IT501'</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a:t>
            </a:r>
            <a:r>
              <a:rPr lang="en-US" sz="1300" b="1" dirty="0">
                <a:solidFill>
                  <a:schemeClr val="accent2"/>
                </a:solidFill>
                <a:latin typeface="Courier New" pitchFamily="34" charset="0"/>
                <a:ea typeface="Courier New" pitchFamily="34" charset="-122"/>
                <a:cs typeface="Courier New" pitchFamily="34" charset="-120"/>
              </a:rPr>
              <a:t>AND</a:t>
            </a:r>
            <a:r>
              <a:rPr lang="en-US" sz="1300" dirty="0">
                <a:solidFill>
                  <a:schemeClr val="tx1"/>
                </a:solidFill>
                <a:latin typeface="Courier New" pitchFamily="34" charset="0"/>
                <a:ea typeface="Courier New" pitchFamily="34" charset="-122"/>
                <a:cs typeface="Courier New" pitchFamily="34" charset="-120"/>
              </a:rPr>
              <a:t> al.attendance_date = '2026-10-23';</a:t>
            </a:r>
            <a:endParaRPr lang="en-US" sz="1300" dirty="0"/>
          </a:p>
        </p:txBody>
      </p:sp>
      <p:sp>
        <p:nvSpPr>
          <p:cNvPr id="15" name="Query 4 panel"/>
          <p:cNvSpPr/>
          <p:nvPr/>
        </p:nvSpPr>
        <p:spPr>
          <a:xfrm>
            <a:off x="6153912" y="3840480"/>
            <a:ext cx="5577840" cy="2423160"/>
          </a:xfrm>
          <a:prstGeom prst="roundRect">
            <a:avLst>
              <a:gd name="adj" fmla="val 3019"/>
            </a:avLst>
          </a:prstGeom>
          <a:solidFill>
            <a:schemeClr val="bg2"/>
          </a:solidFill>
          <a:ln/>
        </p:spPr>
      </p:sp>
      <p:sp>
        <p:nvSpPr>
          <p:cNvPr id="16" name="Query 4 label"/>
          <p:cNvSpPr txBox="1"/>
          <p:nvPr/>
        </p:nvSpPr>
        <p:spPr>
          <a:xfrm>
            <a:off x="6336792" y="3931920"/>
            <a:ext cx="5212080" cy="292608"/>
          </a:xfrm>
          <a:prstGeom prst="rect">
            <a:avLst/>
          </a:prstGeom>
          <a:noFill/>
          <a:ln/>
        </p:spPr>
        <p:txBody>
          <a:bodyPr wrap="square" lIns="0" tIns="0" rIns="0" bIns="0" rtlCol="0" anchor="ctr"/>
          <a:lstStyle/>
          <a:p>
            <a:pPr marL="0" indent="0">
              <a:buNone/>
            </a:pPr>
            <a:r>
              <a:rPr lang="en-US" sz="1500" b="1" dirty="0">
                <a:solidFill>
                  <a:schemeClr val="accent1"/>
                </a:solidFill>
              </a:rPr>
              <a:t>4  Faculty and assigned courses (JOIN)</a:t>
            </a:r>
            <a:endParaRPr lang="en-US" sz="1500" dirty="0"/>
          </a:p>
        </p:txBody>
      </p:sp>
      <p:sp>
        <p:nvSpPr>
          <p:cNvPr id="17" name="Query 4 caption"/>
          <p:cNvSpPr txBox="1"/>
          <p:nvPr/>
        </p:nvSpPr>
        <p:spPr>
          <a:xfrm>
            <a:off x="6336792" y="4224528"/>
            <a:ext cx="5212080" cy="274320"/>
          </a:xfrm>
          <a:prstGeom prst="rect">
            <a:avLst/>
          </a:prstGeom>
          <a:noFill/>
          <a:ln/>
        </p:spPr>
        <p:txBody>
          <a:bodyPr wrap="square" lIns="0" tIns="0" rIns="0" bIns="0" rtlCol="0" anchor="ctr"/>
          <a:lstStyle/>
          <a:p>
            <a:pPr marL="0" indent="0">
              <a:buNone/>
            </a:pPr>
            <a:r>
              <a:rPr lang="en-US" sz="1300" dirty="0">
                <a:solidFill>
                  <a:schemeClr val="accent2"/>
                </a:solidFill>
              </a:rPr>
              <a:t>Which faculty member teaches which course</a:t>
            </a:r>
            <a:endParaRPr lang="en-US" sz="1300" dirty="0"/>
          </a:p>
        </p:txBody>
      </p:sp>
      <p:sp>
        <p:nvSpPr>
          <p:cNvPr id="18" name="Query 4 code"/>
          <p:cNvSpPr txBox="1"/>
          <p:nvPr/>
        </p:nvSpPr>
        <p:spPr>
          <a:xfrm>
            <a:off x="6336792" y="4553712"/>
            <a:ext cx="5212080" cy="1618488"/>
          </a:xfrm>
          <a:prstGeom prst="rect">
            <a:avLst/>
          </a:prstGeom>
          <a:noFill/>
          <a:ln/>
        </p:spPr>
        <p:txBody>
          <a:bodyPr wrap="square" lIns="0" tIns="0" rIns="0" bIns="0" rtlCol="0" anchor="t"/>
          <a:lstStyle/>
          <a:p>
            <a:pPr marL="0" indent="0">
              <a:buNone/>
            </a:pPr>
            <a:r>
              <a:rPr lang="en-US" sz="1300" b="1" dirty="0">
                <a:solidFill>
                  <a:schemeClr val="accent2"/>
                </a:solidFill>
                <a:latin typeface="Courier New" pitchFamily="34" charset="0"/>
                <a:ea typeface="Courier New" pitchFamily="34" charset="-122"/>
                <a:cs typeface="Courier New" pitchFamily="34" charset="-120"/>
              </a:rPr>
              <a:t>SELECT</a:t>
            </a:r>
            <a:r>
              <a:rPr lang="en-US" sz="1300" dirty="0">
                <a:solidFill>
                  <a:schemeClr val="tx1"/>
                </a:solidFill>
                <a:latin typeface="Courier New" pitchFamily="34" charset="0"/>
                <a:ea typeface="Courier New" pitchFamily="34" charset="-122"/>
                <a:cs typeface="Courier New" pitchFamily="34" charset="-120"/>
              </a:rPr>
              <a:t> f.name </a:t>
            </a:r>
            <a:r>
              <a:rPr lang="en-US" sz="1300" b="1" dirty="0">
                <a:solidFill>
                  <a:schemeClr val="accent2"/>
                </a:solidFill>
                <a:latin typeface="Courier New" pitchFamily="34" charset="0"/>
                <a:ea typeface="Courier New" pitchFamily="34" charset="-122"/>
                <a:cs typeface="Courier New" pitchFamily="34" charset="-120"/>
              </a:rPr>
              <a:t>AS</a:t>
            </a:r>
            <a:r>
              <a:rPr lang="en-US" sz="1300" dirty="0">
                <a:solidFill>
                  <a:schemeClr val="tx1"/>
                </a:solidFill>
                <a:latin typeface="Courier New" pitchFamily="34" charset="0"/>
                <a:ea typeface="Courier New" pitchFamily="34" charset="-122"/>
                <a:cs typeface="Courier New" pitchFamily="34" charset="-120"/>
              </a:rPr>
              <a:t> faculty,</a:t>
            </a:r>
            <a:endParaRPr lang="en-US" sz="1300" dirty="0"/>
          </a:p>
          <a:p>
            <a:pPr marL="0" indent="0">
              <a:buNone/>
            </a:pPr>
            <a:r>
              <a:rPr lang="en-US" sz="1300" dirty="0">
                <a:solidFill>
                  <a:schemeClr val="tx1"/>
                </a:solidFill>
                <a:latin typeface="Courier New" pitchFamily="34" charset="0"/>
                <a:ea typeface="Courier New" pitchFamily="34" charset="-122"/>
                <a:cs typeface="Courier New" pitchFamily="34" charset="-120"/>
              </a:rPr>
              <a:t>       c.course_code, c.course_name</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FROM</a:t>
            </a:r>
            <a:r>
              <a:rPr lang="en-US" sz="1300" dirty="0">
                <a:solidFill>
                  <a:schemeClr val="tx1"/>
                </a:solidFill>
                <a:latin typeface="Courier New" pitchFamily="34" charset="0"/>
                <a:ea typeface="Courier New" pitchFamily="34" charset="-122"/>
                <a:cs typeface="Courier New" pitchFamily="34" charset="-120"/>
              </a:rPr>
              <a:t> Faculty f</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JOIN</a:t>
            </a:r>
            <a:r>
              <a:rPr lang="en-US" sz="1300" dirty="0">
                <a:solidFill>
                  <a:schemeClr val="tx1"/>
                </a:solidFill>
                <a:latin typeface="Courier New" pitchFamily="34" charset="0"/>
                <a:ea typeface="Courier New" pitchFamily="34" charset="-122"/>
                <a:cs typeface="Courier New" pitchFamily="34" charset="-120"/>
              </a:rPr>
              <a:t> Courses c </a:t>
            </a:r>
            <a:r>
              <a:rPr lang="en-US" sz="1300" b="1" dirty="0">
                <a:solidFill>
                  <a:schemeClr val="accent2"/>
                </a:solidFill>
                <a:latin typeface="Courier New" pitchFamily="34" charset="0"/>
                <a:ea typeface="Courier New" pitchFamily="34" charset="-122"/>
                <a:cs typeface="Courier New" pitchFamily="34" charset="-120"/>
              </a:rPr>
              <a:t>ON</a:t>
            </a:r>
            <a:r>
              <a:rPr lang="en-US" sz="1300" dirty="0">
                <a:solidFill>
                  <a:schemeClr val="tx1"/>
                </a:solidFill>
                <a:latin typeface="Courier New" pitchFamily="34" charset="0"/>
                <a:ea typeface="Courier New" pitchFamily="34" charset="-122"/>
                <a:cs typeface="Courier New" pitchFamily="34" charset="-120"/>
              </a:rPr>
              <a:t> c.faculty_id = f.faculty_id</a:t>
            </a:r>
            <a:endParaRPr lang="en-US" sz="1300" dirty="0"/>
          </a:p>
          <a:p>
            <a:pPr marL="0" indent="0">
              <a:buNone/>
            </a:pPr>
            <a:r>
              <a:rPr lang="en-US" sz="1300" b="1" dirty="0">
                <a:solidFill>
                  <a:schemeClr val="accent2"/>
                </a:solidFill>
                <a:latin typeface="Courier New" pitchFamily="34" charset="0"/>
                <a:ea typeface="Courier New" pitchFamily="34" charset="-122"/>
                <a:cs typeface="Courier New" pitchFamily="34" charset="-120"/>
              </a:rPr>
              <a:t>ORDER</a:t>
            </a:r>
            <a:r>
              <a:rPr lang="en-US" sz="1300" dirty="0">
                <a:solidFill>
                  <a:schemeClr val="tx1"/>
                </a:solidFill>
                <a:latin typeface="Courier New" pitchFamily="34" charset="0"/>
                <a:ea typeface="Courier New" pitchFamily="34" charset="-122"/>
                <a:cs typeface="Courier New" pitchFamily="34" charset="-120"/>
              </a:rPr>
              <a:t> </a:t>
            </a:r>
            <a:r>
              <a:rPr lang="en-US" sz="1300" b="1" dirty="0">
                <a:solidFill>
                  <a:schemeClr val="accent2"/>
                </a:solidFill>
                <a:latin typeface="Courier New" pitchFamily="34" charset="0"/>
                <a:ea typeface="Courier New" pitchFamily="34" charset="-122"/>
                <a:cs typeface="Courier New" pitchFamily="34" charset="-120"/>
              </a:rPr>
              <a:t>BY</a:t>
            </a:r>
            <a:r>
              <a:rPr lang="en-US" sz="1300" dirty="0">
                <a:solidFill>
                  <a:schemeClr val="tx1"/>
                </a:solidFill>
                <a:latin typeface="Courier New" pitchFamily="34" charset="0"/>
                <a:ea typeface="Courier New" pitchFamily="34" charset="-122"/>
                <a:cs typeface="Courier New" pitchFamily="34" charset="-120"/>
              </a:rPr>
              <a:t> f.name;</a:t>
            </a:r>
            <a:endParaRPr lang="en-US" sz="1300" dirty="0"/>
          </a:p>
        </p:txBody>
      </p:sp>
      <p:sp>
        <p:nvSpPr>
          <p:cNvPr id="25"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Demonstration: Interfaces &amp; Stored Data</a:t>
            </a:r>
            <a:endParaRPr lang="en-US" sz="3400" dirty="0"/>
          </a:p>
        </p:txBody>
      </p:sp>
      <p:sp>
        <p:nvSpPr>
          <p:cNvPr id="4" name="CLI caption"/>
          <p:cNvSpPr txBox="1"/>
          <p:nvPr/>
        </p:nvSpPr>
        <p:spPr>
          <a:xfrm>
            <a:off x="457200" y="3242854"/>
            <a:ext cx="4754880" cy="320040"/>
          </a:xfrm>
          <a:prstGeom prst="rect">
            <a:avLst/>
          </a:prstGeom>
          <a:noFill/>
          <a:ln/>
        </p:spPr>
        <p:txBody>
          <a:bodyPr wrap="square" lIns="0" tIns="0" rIns="0" bIns="0" rtlCol="0" anchor="t"/>
          <a:lstStyle/>
          <a:p>
            <a:pPr marL="0" indent="0">
              <a:buNone/>
            </a:pPr>
            <a:r>
              <a:rPr lang="en-US" sz="1600" b="1" dirty="0">
                <a:solidFill>
                  <a:schemeClr val="accent1"/>
                </a:solidFill>
              </a:rPr>
              <a:t>Command-line menu</a:t>
            </a:r>
            <a:endParaRPr lang="en-US" sz="1600" dirty="0"/>
          </a:p>
        </p:txBody>
      </p:sp>
      <p:sp>
        <p:nvSpPr>
          <p:cNvPr id="5" name="CLI description"/>
          <p:cNvSpPr txBox="1"/>
          <p:nvPr/>
        </p:nvSpPr>
        <p:spPr>
          <a:xfrm>
            <a:off x="457200" y="3631474"/>
            <a:ext cx="4754880" cy="731520"/>
          </a:xfrm>
          <a:prstGeom prst="rect">
            <a:avLst/>
          </a:prstGeom>
          <a:noFill/>
          <a:ln/>
        </p:spPr>
        <p:txBody>
          <a:bodyPr wrap="square" lIns="0" tIns="0" rIns="0" bIns="0" rtlCol="0" anchor="t"/>
          <a:lstStyle/>
          <a:p>
            <a:pPr marL="0" indent="0">
              <a:buNone/>
            </a:pPr>
            <a:r>
              <a:rPr lang="en-US" sz="1400" dirty="0">
                <a:solidFill>
                  <a:schemeClr val="tx1"/>
                </a:solidFill>
              </a:rPr>
              <a:t>main.py: mark attendance, run reports and add records from a numbered menu.</a:t>
            </a:r>
            <a:endParaRPr lang="en-US" sz="1400" dirty="0"/>
          </a:p>
        </p:txBody>
      </p:sp>
      <p:pic>
        <p:nvPicPr>
          <p:cNvPr id="6" name="Desktop GUI Mark Attendance screenshot" descr="Desktop GUI Mark Attendance"/>
          <p:cNvPicPr>
            <a:picLocks noChangeAspect="1"/>
          </p:cNvPicPr>
          <p:nvPr/>
        </p:nvPicPr>
        <p:blipFill>
          <a:blip r:embed="rId3"/>
          <a:stretch>
            <a:fillRect/>
          </a:stretch>
        </p:blipFill>
        <p:spPr>
          <a:xfrm>
            <a:off x="464664" y="1082584"/>
            <a:ext cx="6245352" cy="1725930"/>
          </a:xfrm>
          <a:prstGeom prst="rect">
            <a:avLst/>
          </a:prstGeom>
        </p:spPr>
      </p:pic>
      <p:sp>
        <p:nvSpPr>
          <p:cNvPr id="7" name="GUI caption"/>
          <p:cNvSpPr txBox="1"/>
          <p:nvPr/>
        </p:nvSpPr>
        <p:spPr>
          <a:xfrm>
            <a:off x="7641771" y="2602202"/>
            <a:ext cx="6245352" cy="320040"/>
          </a:xfrm>
          <a:prstGeom prst="rect">
            <a:avLst/>
          </a:prstGeom>
          <a:noFill/>
          <a:ln/>
        </p:spPr>
        <p:txBody>
          <a:bodyPr wrap="square" lIns="0" tIns="0" rIns="0" bIns="0" rtlCol="0" anchor="t"/>
          <a:lstStyle/>
          <a:p>
            <a:pPr marL="0" indent="0">
              <a:buNone/>
            </a:pPr>
            <a:r>
              <a:rPr lang="en-US" sz="1600" b="1" dirty="0">
                <a:solidFill>
                  <a:schemeClr val="accent1"/>
                </a:solidFill>
              </a:rPr>
              <a:t>Desktop GUI: Mark Attendance</a:t>
            </a:r>
            <a:endParaRPr lang="en-US" sz="1600" dirty="0"/>
          </a:p>
        </p:txBody>
      </p:sp>
      <p:sp>
        <p:nvSpPr>
          <p:cNvPr id="8" name="GUI description"/>
          <p:cNvSpPr txBox="1"/>
          <p:nvPr/>
        </p:nvSpPr>
        <p:spPr>
          <a:xfrm>
            <a:off x="6512768" y="2963962"/>
            <a:ext cx="6245352" cy="320040"/>
          </a:xfrm>
          <a:prstGeom prst="rect">
            <a:avLst/>
          </a:prstGeom>
          <a:noFill/>
          <a:ln/>
        </p:spPr>
        <p:txBody>
          <a:bodyPr wrap="square" lIns="0" tIns="0" rIns="0" bIns="0" rtlCol="0" anchor="t"/>
          <a:lstStyle/>
          <a:p>
            <a:pPr marL="0" indent="0">
              <a:buNone/>
            </a:pPr>
            <a:r>
              <a:rPr lang="en-US" sz="1400" dirty="0">
                <a:solidFill>
                  <a:schemeClr val="tx1"/>
                </a:solidFill>
              </a:rPr>
              <a:t>Choose course and date, load students, toggle Present / Absent and save.</a:t>
            </a:r>
            <a:endParaRPr lang="en-US" sz="1400" dirty="0"/>
          </a:p>
        </p:txBody>
      </p:sp>
      <p:pic>
        <p:nvPicPr>
          <p:cNvPr id="9" name="Students table snapshot screenshot" descr="Students table snapshot"/>
          <p:cNvPicPr>
            <a:picLocks noChangeAspect="1"/>
          </p:cNvPicPr>
          <p:nvPr/>
        </p:nvPicPr>
        <p:blipFill>
          <a:blip r:embed="rId4"/>
          <a:stretch>
            <a:fillRect/>
          </a:stretch>
        </p:blipFill>
        <p:spPr>
          <a:xfrm>
            <a:off x="5486400" y="3325722"/>
            <a:ext cx="6372808" cy="1981798"/>
          </a:xfrm>
          <a:prstGeom prst="rect">
            <a:avLst/>
          </a:prstGeom>
        </p:spPr>
      </p:pic>
      <p:sp>
        <p:nvSpPr>
          <p:cNvPr id="10" name="Records caption"/>
          <p:cNvSpPr txBox="1"/>
          <p:nvPr/>
        </p:nvSpPr>
        <p:spPr>
          <a:xfrm>
            <a:off x="464664" y="4666717"/>
            <a:ext cx="6245352" cy="320040"/>
          </a:xfrm>
          <a:prstGeom prst="rect">
            <a:avLst/>
          </a:prstGeom>
          <a:noFill/>
          <a:ln/>
        </p:spPr>
        <p:txBody>
          <a:bodyPr wrap="square" lIns="0" tIns="0" rIns="0" bIns="0" rtlCol="0" anchor="t"/>
          <a:lstStyle/>
          <a:p>
            <a:pPr marL="0" indent="0">
              <a:buNone/>
            </a:pPr>
            <a:r>
              <a:rPr lang="en-US" sz="1600" b="1" dirty="0">
                <a:solidFill>
                  <a:schemeClr val="accent1"/>
                </a:solidFill>
              </a:rPr>
              <a:t>Database snapshot: Students table</a:t>
            </a:r>
            <a:endParaRPr lang="en-US" sz="1600" dirty="0"/>
          </a:p>
        </p:txBody>
      </p:sp>
      <p:sp>
        <p:nvSpPr>
          <p:cNvPr id="11" name="Records description"/>
          <p:cNvSpPr txBox="1"/>
          <p:nvPr/>
        </p:nvSpPr>
        <p:spPr>
          <a:xfrm>
            <a:off x="457200" y="4988810"/>
            <a:ext cx="6245352" cy="320040"/>
          </a:xfrm>
          <a:prstGeom prst="rect">
            <a:avLst/>
          </a:prstGeom>
          <a:noFill/>
          <a:ln/>
        </p:spPr>
        <p:txBody>
          <a:bodyPr wrap="square" lIns="0" tIns="0" rIns="0" bIns="0" rtlCol="0" anchor="t"/>
          <a:lstStyle/>
          <a:p>
            <a:pPr marL="0" indent="0">
              <a:buNone/>
            </a:pPr>
            <a:r>
              <a:rPr lang="en-US" sz="1400" dirty="0">
                <a:solidFill>
                  <a:schemeClr val="tx1"/>
                </a:solidFill>
              </a:rPr>
              <a:t>Sample data: 8 students, 4 courses, 3 faculty, 12 days of attendance.</a:t>
            </a:r>
            <a:endParaRPr lang="en-US" sz="1400" dirty="0"/>
          </a:p>
        </p:txBody>
      </p:sp>
      <p:sp>
        <p:nvSpPr>
          <p:cNvPr id="12" name="Demo takeaway"/>
          <p:cNvSpPr/>
          <p:nvPr/>
        </p:nvSpPr>
        <p:spPr>
          <a:xfrm>
            <a:off x="457200" y="5669280"/>
            <a:ext cx="11274552" cy="594360"/>
          </a:xfrm>
          <a:prstGeom prst="roundRect">
            <a:avLst>
              <a:gd name="adj" fmla="val 12308"/>
            </a:avLst>
          </a:prstGeom>
          <a:solidFill>
            <a:schemeClr val="accent1"/>
          </a:solidFill>
          <a:ln/>
        </p:spPr>
      </p:sp>
      <p:sp>
        <p:nvSpPr>
          <p:cNvPr id="13" name="Demo takeaway text"/>
          <p:cNvSpPr txBox="1"/>
          <p:nvPr/>
        </p:nvSpPr>
        <p:spPr>
          <a:xfrm>
            <a:off x="731520" y="5669280"/>
            <a:ext cx="10698480" cy="594360"/>
          </a:xfrm>
          <a:prstGeom prst="rect">
            <a:avLst/>
          </a:prstGeom>
          <a:noFill/>
          <a:ln/>
        </p:spPr>
        <p:txBody>
          <a:bodyPr wrap="square" lIns="0" tIns="0" rIns="0" bIns="0" rtlCol="0" anchor="ctr"/>
          <a:lstStyle/>
          <a:p>
            <a:pPr marL="0" indent="0">
              <a:buNone/>
            </a:pPr>
            <a:r>
              <a:rPr lang="en-US" sz="1600" dirty="0">
                <a:solidFill>
                  <a:schemeClr val="bg1"/>
                </a:solidFill>
              </a:rPr>
              <a:t>The CLI and desktop GUI share one SQLite database; the browser version keeps its own data in the browser.</a:t>
            </a:r>
            <a:endParaRPr lang="en-US" sz="1600" dirty="0"/>
          </a:p>
        </p:txBody>
      </p:sp>
      <p:sp>
        <p:nvSpPr>
          <p:cNvPr id="25"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Demonstration: Attendance Reports</a:t>
            </a:r>
            <a:endParaRPr lang="en-US" sz="3400" dirty="0"/>
          </a:p>
        </p:txBody>
      </p:sp>
      <p:pic>
        <p:nvPicPr>
          <p:cNvPr id="3" name="Student report screenshot" descr="Student report screenshot"/>
          <p:cNvPicPr>
            <a:picLocks noChangeAspect="1"/>
          </p:cNvPicPr>
          <p:nvPr/>
        </p:nvPicPr>
        <p:blipFill>
          <a:blip r:embed="rId3"/>
          <a:stretch>
            <a:fillRect/>
          </a:stretch>
        </p:blipFill>
        <p:spPr>
          <a:xfrm>
            <a:off x="457200" y="1119673"/>
            <a:ext cx="6217920" cy="1332845"/>
          </a:xfrm>
          <a:prstGeom prst="rect">
            <a:avLst/>
          </a:prstGeom>
        </p:spPr>
      </p:pic>
      <p:sp>
        <p:nvSpPr>
          <p:cNvPr id="4" name="Student report caption"/>
          <p:cNvSpPr txBox="1"/>
          <p:nvPr/>
        </p:nvSpPr>
        <p:spPr>
          <a:xfrm>
            <a:off x="6949440" y="1325880"/>
            <a:ext cx="4782312" cy="320040"/>
          </a:xfrm>
          <a:prstGeom prst="rect">
            <a:avLst/>
          </a:prstGeom>
          <a:noFill/>
          <a:ln/>
        </p:spPr>
        <p:txBody>
          <a:bodyPr wrap="square" lIns="0" tIns="0" rIns="0" bIns="0" rtlCol="0" anchor="t"/>
          <a:lstStyle/>
          <a:p>
            <a:pPr marL="0" indent="0">
              <a:buNone/>
            </a:pPr>
            <a:r>
              <a:rPr lang="en-US" sz="1600" b="1" dirty="0">
                <a:solidFill>
                  <a:schemeClr val="accent1"/>
                </a:solidFill>
              </a:rPr>
              <a:t>Student report</a:t>
            </a:r>
            <a:endParaRPr lang="en-US" sz="1600" dirty="0"/>
          </a:p>
        </p:txBody>
      </p:sp>
      <p:sp>
        <p:nvSpPr>
          <p:cNvPr id="5" name="Student report description"/>
          <p:cNvSpPr txBox="1"/>
          <p:nvPr/>
        </p:nvSpPr>
        <p:spPr>
          <a:xfrm>
            <a:off x="6949440" y="1691640"/>
            <a:ext cx="4782312" cy="640080"/>
          </a:xfrm>
          <a:prstGeom prst="rect">
            <a:avLst/>
          </a:prstGeom>
          <a:noFill/>
          <a:ln/>
        </p:spPr>
        <p:txBody>
          <a:bodyPr wrap="square" lIns="0" tIns="0" rIns="0" bIns="0" rtlCol="0" anchor="t"/>
          <a:lstStyle/>
          <a:p>
            <a:pPr marL="0" indent="0">
              <a:buNone/>
            </a:pPr>
            <a:r>
              <a:rPr lang="en-US" sz="1400" dirty="0">
                <a:solidFill>
                  <a:schemeClr val="tx1"/>
                </a:solidFill>
              </a:rPr>
              <a:t>Course-wise total, attended, % and status for one student.</a:t>
            </a:r>
            <a:endParaRPr lang="en-US" sz="1400" dirty="0"/>
          </a:p>
        </p:txBody>
      </p:sp>
      <p:pic>
        <p:nvPicPr>
          <p:cNvPr id="6" name="Course report screenshot" descr="Course report screenshot"/>
          <p:cNvPicPr>
            <a:picLocks noChangeAspect="1"/>
          </p:cNvPicPr>
          <p:nvPr/>
        </p:nvPicPr>
        <p:blipFill>
          <a:blip r:embed="rId4"/>
          <a:stretch>
            <a:fillRect/>
          </a:stretch>
        </p:blipFill>
        <p:spPr>
          <a:xfrm>
            <a:off x="457200" y="2566352"/>
            <a:ext cx="6217920" cy="1398966"/>
          </a:xfrm>
          <a:prstGeom prst="rect">
            <a:avLst/>
          </a:prstGeom>
        </p:spPr>
      </p:pic>
      <p:sp>
        <p:nvSpPr>
          <p:cNvPr id="7" name="Course report caption"/>
          <p:cNvSpPr txBox="1"/>
          <p:nvPr/>
        </p:nvSpPr>
        <p:spPr>
          <a:xfrm>
            <a:off x="6949440" y="2632472"/>
            <a:ext cx="4782312" cy="320040"/>
          </a:xfrm>
          <a:prstGeom prst="rect">
            <a:avLst/>
          </a:prstGeom>
          <a:noFill/>
          <a:ln/>
        </p:spPr>
        <p:txBody>
          <a:bodyPr wrap="square" lIns="0" tIns="0" rIns="0" bIns="0" rtlCol="0" anchor="t"/>
          <a:lstStyle/>
          <a:p>
            <a:pPr marL="0" indent="0">
              <a:buNone/>
            </a:pPr>
            <a:r>
              <a:rPr lang="en-US" sz="1600" b="1" dirty="0">
                <a:solidFill>
                  <a:schemeClr val="accent1"/>
                </a:solidFill>
              </a:rPr>
              <a:t>Course report</a:t>
            </a:r>
            <a:endParaRPr lang="en-US" sz="1600" dirty="0"/>
          </a:p>
        </p:txBody>
      </p:sp>
      <p:sp>
        <p:nvSpPr>
          <p:cNvPr id="8" name="Course report description"/>
          <p:cNvSpPr txBox="1"/>
          <p:nvPr/>
        </p:nvSpPr>
        <p:spPr>
          <a:xfrm>
            <a:off x="6949440" y="2998232"/>
            <a:ext cx="4782312" cy="640080"/>
          </a:xfrm>
          <a:prstGeom prst="rect">
            <a:avLst/>
          </a:prstGeom>
          <a:noFill/>
          <a:ln/>
        </p:spPr>
        <p:txBody>
          <a:bodyPr wrap="square" lIns="0" tIns="0" rIns="0" bIns="0" rtlCol="0" anchor="t"/>
          <a:lstStyle/>
          <a:p>
            <a:pPr marL="0" indent="0">
              <a:buNone/>
            </a:pPr>
            <a:r>
              <a:rPr lang="en-US" sz="1400" dirty="0">
                <a:solidFill>
                  <a:schemeClr val="tx1"/>
                </a:solidFill>
              </a:rPr>
              <a:t>Every student of a course with percentage and status.</a:t>
            </a:r>
            <a:endParaRPr lang="en-US" sz="1400" dirty="0"/>
          </a:p>
        </p:txBody>
      </p:sp>
      <p:pic>
        <p:nvPicPr>
          <p:cNvPr id="9" name="Defaulter list screenshot" descr="Defaulter list screenshot"/>
          <p:cNvPicPr>
            <a:picLocks noChangeAspect="1"/>
          </p:cNvPicPr>
          <p:nvPr/>
        </p:nvPicPr>
        <p:blipFill>
          <a:blip r:embed="rId5"/>
          <a:stretch>
            <a:fillRect/>
          </a:stretch>
        </p:blipFill>
        <p:spPr>
          <a:xfrm>
            <a:off x="457200" y="4145271"/>
            <a:ext cx="6217920" cy="2051182"/>
          </a:xfrm>
          <a:prstGeom prst="rect">
            <a:avLst/>
          </a:prstGeom>
        </p:spPr>
      </p:pic>
      <p:sp>
        <p:nvSpPr>
          <p:cNvPr id="10" name="Defaulter list caption"/>
          <p:cNvSpPr txBox="1"/>
          <p:nvPr/>
        </p:nvSpPr>
        <p:spPr>
          <a:xfrm>
            <a:off x="6949440" y="4239637"/>
            <a:ext cx="4782312" cy="320040"/>
          </a:xfrm>
          <a:prstGeom prst="rect">
            <a:avLst/>
          </a:prstGeom>
          <a:noFill/>
          <a:ln/>
        </p:spPr>
        <p:txBody>
          <a:bodyPr wrap="square" lIns="0" tIns="0" rIns="0" bIns="0" rtlCol="0" anchor="t"/>
          <a:lstStyle/>
          <a:p>
            <a:pPr marL="0" indent="0">
              <a:buNone/>
            </a:pPr>
            <a:r>
              <a:rPr lang="en-US" sz="1600" b="1" dirty="0">
                <a:solidFill>
                  <a:schemeClr val="accent1"/>
                </a:solidFill>
              </a:rPr>
              <a:t>Defaulter list</a:t>
            </a:r>
            <a:endParaRPr lang="en-US" sz="1600" dirty="0"/>
          </a:p>
        </p:txBody>
      </p:sp>
      <p:sp>
        <p:nvSpPr>
          <p:cNvPr id="11" name="Defaulter list description"/>
          <p:cNvSpPr txBox="1"/>
          <p:nvPr/>
        </p:nvSpPr>
        <p:spPr>
          <a:xfrm>
            <a:off x="6949440" y="4605397"/>
            <a:ext cx="4782312" cy="640080"/>
          </a:xfrm>
          <a:prstGeom prst="rect">
            <a:avLst/>
          </a:prstGeom>
          <a:noFill/>
          <a:ln/>
        </p:spPr>
        <p:txBody>
          <a:bodyPr wrap="square" lIns="0" tIns="0" rIns="0" bIns="0" rtlCol="0" anchor="t"/>
          <a:lstStyle/>
          <a:p>
            <a:pPr marL="0" indent="0">
              <a:buNone/>
            </a:pPr>
            <a:r>
              <a:rPr lang="en-US" sz="1400" dirty="0">
                <a:solidFill>
                  <a:schemeClr val="tx1"/>
                </a:solidFill>
              </a:rPr>
              <a:t>All students below 75% in any course. Status rules below are sample project rules.</a:t>
            </a:r>
            <a:endParaRPr lang="en-US" sz="1400" dirty="0"/>
          </a:p>
        </p:txBody>
      </p:sp>
      <p:sp>
        <p:nvSpPr>
          <p:cNvPr id="12" name="Status chip 1"/>
          <p:cNvSpPr/>
          <p:nvPr/>
        </p:nvSpPr>
        <p:spPr>
          <a:xfrm>
            <a:off x="6949440" y="5154037"/>
            <a:ext cx="3291840" cy="310896"/>
          </a:xfrm>
          <a:prstGeom prst="roundRect">
            <a:avLst>
              <a:gd name="adj" fmla="val 23529"/>
            </a:avLst>
          </a:prstGeom>
          <a:solidFill>
            <a:schemeClr val="accent4"/>
          </a:solidFill>
          <a:ln/>
        </p:spPr>
      </p:sp>
      <p:sp>
        <p:nvSpPr>
          <p:cNvPr id="13" name="Status chip label 1"/>
          <p:cNvSpPr txBox="1"/>
          <p:nvPr/>
        </p:nvSpPr>
        <p:spPr>
          <a:xfrm>
            <a:off x="6949440" y="5154037"/>
            <a:ext cx="3291840" cy="310896"/>
          </a:xfrm>
          <a:prstGeom prst="rect">
            <a:avLst/>
          </a:prstGeom>
          <a:noFill/>
          <a:ln/>
        </p:spPr>
        <p:txBody>
          <a:bodyPr wrap="square" lIns="0" tIns="0" rIns="0" bIns="0" rtlCol="0" anchor="ctr"/>
          <a:lstStyle/>
          <a:p>
            <a:pPr marL="0" indent="0" algn="ctr">
              <a:buNone/>
            </a:pPr>
            <a:r>
              <a:rPr lang="en-US" sz="1400" b="1" dirty="0">
                <a:solidFill>
                  <a:schemeClr val="bg1"/>
                </a:solidFill>
              </a:rPr>
              <a:t>Eligible: 75% or more</a:t>
            </a:r>
            <a:endParaRPr lang="en-US" sz="1400" dirty="0"/>
          </a:p>
        </p:txBody>
      </p:sp>
      <p:sp>
        <p:nvSpPr>
          <p:cNvPr id="14" name="Status chip 2"/>
          <p:cNvSpPr/>
          <p:nvPr/>
        </p:nvSpPr>
        <p:spPr>
          <a:xfrm>
            <a:off x="6949440" y="5519797"/>
            <a:ext cx="3291840" cy="310896"/>
          </a:xfrm>
          <a:prstGeom prst="roundRect">
            <a:avLst>
              <a:gd name="adj" fmla="val 23529"/>
            </a:avLst>
          </a:prstGeom>
          <a:solidFill>
            <a:schemeClr val="accent5"/>
          </a:solidFill>
          <a:ln/>
        </p:spPr>
      </p:sp>
      <p:sp>
        <p:nvSpPr>
          <p:cNvPr id="15" name="Status chip label 2"/>
          <p:cNvSpPr txBox="1"/>
          <p:nvPr/>
        </p:nvSpPr>
        <p:spPr>
          <a:xfrm>
            <a:off x="6949440" y="5519797"/>
            <a:ext cx="3291840" cy="310896"/>
          </a:xfrm>
          <a:prstGeom prst="rect">
            <a:avLst/>
          </a:prstGeom>
          <a:noFill/>
          <a:ln/>
        </p:spPr>
        <p:txBody>
          <a:bodyPr wrap="square" lIns="0" tIns="0" rIns="0" bIns="0" rtlCol="0" anchor="ctr"/>
          <a:lstStyle/>
          <a:p>
            <a:pPr marL="0" indent="0" algn="ctr">
              <a:buNone/>
            </a:pPr>
            <a:r>
              <a:rPr lang="en-US" sz="1400" b="1" dirty="0">
                <a:solidFill>
                  <a:schemeClr val="tx1"/>
                </a:solidFill>
              </a:rPr>
              <a:t>Condonation: 65% to below 75%</a:t>
            </a:r>
            <a:endParaRPr lang="en-US" sz="1400" dirty="0"/>
          </a:p>
        </p:txBody>
      </p:sp>
      <p:sp>
        <p:nvSpPr>
          <p:cNvPr id="16" name="Status chip 3"/>
          <p:cNvSpPr/>
          <p:nvPr/>
        </p:nvSpPr>
        <p:spPr>
          <a:xfrm>
            <a:off x="6949440" y="5885557"/>
            <a:ext cx="3291840" cy="310896"/>
          </a:xfrm>
          <a:prstGeom prst="roundRect">
            <a:avLst>
              <a:gd name="adj" fmla="val 23529"/>
            </a:avLst>
          </a:prstGeom>
          <a:solidFill>
            <a:schemeClr val="accent6"/>
          </a:solidFill>
          <a:ln/>
        </p:spPr>
      </p:sp>
      <p:sp>
        <p:nvSpPr>
          <p:cNvPr id="17" name="Status chip label 3"/>
          <p:cNvSpPr txBox="1"/>
          <p:nvPr/>
        </p:nvSpPr>
        <p:spPr>
          <a:xfrm>
            <a:off x="6949440" y="5885557"/>
            <a:ext cx="3291840" cy="310896"/>
          </a:xfrm>
          <a:prstGeom prst="rect">
            <a:avLst/>
          </a:prstGeom>
          <a:noFill/>
          <a:ln/>
        </p:spPr>
        <p:txBody>
          <a:bodyPr wrap="square" lIns="0" tIns="0" rIns="0" bIns="0" rtlCol="0" anchor="ctr"/>
          <a:lstStyle/>
          <a:p>
            <a:pPr marL="0" indent="0" algn="ctr">
              <a:buNone/>
            </a:pPr>
            <a:r>
              <a:rPr lang="en-US" sz="1400" b="1" dirty="0">
                <a:solidFill>
                  <a:schemeClr val="bg1"/>
                </a:solidFill>
              </a:rPr>
              <a:t>Detained: below 65%</a:t>
            </a:r>
            <a:endParaRPr lang="en-US" sz="1400" dirty="0"/>
          </a:p>
        </p:txBody>
      </p:sp>
      <p:sp>
        <p:nvSpPr>
          <p:cNvPr id="25"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74320"/>
            <a:ext cx="10241280" cy="731520"/>
          </a:xfrm>
          <a:prstGeom prst="rect">
            <a:avLst/>
          </a:prstGeom>
          <a:noFill/>
          <a:ln/>
        </p:spPr>
        <p:txBody>
          <a:bodyPr wrap="square" lIns="0" tIns="0" rIns="0" bIns="0" rtlCol="0" anchor="ctr"/>
          <a:lstStyle/>
          <a:p>
            <a:pPr marL="0" indent="0" algn="l">
              <a:buNone/>
            </a:pPr>
            <a:r>
              <a:rPr lang="en-US" sz="3400" b="1" dirty="0">
                <a:solidFill>
                  <a:schemeClr val="tx2"/>
                </a:solidFill>
              </a:rPr>
              <a:t>Conclusion &amp; Future Scope</a:t>
            </a:r>
            <a:endParaRPr lang="en-US" sz="3400" dirty="0"/>
          </a:p>
        </p:txBody>
      </p:sp>
      <p:sp>
        <p:nvSpPr>
          <p:cNvPr id="3" name="Achievements card"/>
          <p:cNvSpPr/>
          <p:nvPr/>
        </p:nvSpPr>
        <p:spPr>
          <a:xfrm>
            <a:off x="457200" y="1325880"/>
            <a:ext cx="5029200" cy="4846320"/>
          </a:xfrm>
          <a:prstGeom prst="roundRect">
            <a:avLst>
              <a:gd name="adj" fmla="val 1509"/>
            </a:avLst>
          </a:prstGeom>
          <a:solidFill>
            <a:schemeClr val="bg2"/>
          </a:solidFill>
          <a:ln/>
        </p:spPr>
      </p:sp>
      <p:sp>
        <p:nvSpPr>
          <p:cNvPr id="4" name="Trophy circle"/>
          <p:cNvSpPr/>
          <p:nvPr/>
        </p:nvSpPr>
        <p:spPr>
          <a:xfrm>
            <a:off x="685800" y="1508760"/>
            <a:ext cx="566928" cy="566928"/>
          </a:xfrm>
          <a:prstGeom prst="ellipse">
            <a:avLst/>
          </a:prstGeom>
          <a:solidFill>
            <a:schemeClr val="accent1"/>
          </a:solidFill>
          <a:ln/>
        </p:spPr>
      </p:sp>
      <p:pic>
        <p:nvPicPr>
          <p:cNvPr id="5" name="Trophy icon" descr="Trophy"/>
          <p:cNvPicPr>
            <a:picLocks noChangeAspect="1"/>
          </p:cNvPicPr>
          <p:nvPr/>
        </p:nvPicPr>
        <p:blipFill>
          <a:blip r:embed="rId3"/>
          <a:stretch>
            <a:fillRect/>
          </a:stretch>
        </p:blipFill>
        <p:spPr>
          <a:xfrm>
            <a:off x="838871" y="1661831"/>
            <a:ext cx="260787" cy="260787"/>
          </a:xfrm>
          <a:prstGeom prst="rect">
            <a:avLst/>
          </a:prstGeom>
        </p:spPr>
      </p:pic>
      <p:sp>
        <p:nvSpPr>
          <p:cNvPr id="6" name="Achievements heading"/>
          <p:cNvSpPr txBox="1"/>
          <p:nvPr/>
        </p:nvSpPr>
        <p:spPr>
          <a:xfrm>
            <a:off x="1417320" y="1508760"/>
            <a:ext cx="3840480" cy="566928"/>
          </a:xfrm>
          <a:prstGeom prst="rect">
            <a:avLst/>
          </a:prstGeom>
          <a:noFill/>
          <a:ln/>
        </p:spPr>
        <p:txBody>
          <a:bodyPr wrap="square" lIns="0" tIns="0" rIns="0" bIns="0" rtlCol="0" anchor="ctr"/>
          <a:lstStyle/>
          <a:p>
            <a:pPr marL="0" indent="0">
              <a:buNone/>
            </a:pPr>
            <a:r>
              <a:rPr lang="en-US" sz="2000" b="1" dirty="0">
                <a:solidFill>
                  <a:schemeClr val="accent1"/>
                </a:solidFill>
              </a:rPr>
              <a:t>What we achieved</a:t>
            </a:r>
            <a:endParaRPr lang="en-US" sz="2000" dirty="0"/>
          </a:p>
        </p:txBody>
      </p:sp>
      <p:sp>
        <p:nvSpPr>
          <p:cNvPr id="7" name="Achievements points"/>
          <p:cNvSpPr txBox="1"/>
          <p:nvPr/>
        </p:nvSpPr>
        <p:spPr>
          <a:xfrm>
            <a:off x="731520" y="2331720"/>
            <a:ext cx="4572000" cy="365760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Designed four related tables with primary and foreign keys</a:t>
            </a:r>
            <a:endParaRPr lang="en-US" sz="1800" dirty="0"/>
          </a:p>
          <a:p>
            <a:pPr marL="342900" indent="-342900">
              <a:spcAft>
                <a:spcPts val="1600"/>
              </a:spcAft>
              <a:buSzPct val="100000"/>
              <a:buChar char="•"/>
            </a:pPr>
            <a:r>
              <a:rPr lang="en-US" sz="1800" dirty="0">
                <a:solidFill>
                  <a:schemeClr val="tx1"/>
                </a:solidFill>
              </a:rPr>
              <a:t>Enforced rules with UNIQUE and CHECK constraints</a:t>
            </a:r>
            <a:endParaRPr lang="en-US" sz="1800" dirty="0"/>
          </a:p>
          <a:p>
            <a:pPr marL="342900" indent="-342900">
              <a:spcAft>
                <a:spcPts val="1600"/>
              </a:spcAft>
              <a:buSzPct val="100000"/>
              <a:buChar char="•"/>
            </a:pPr>
            <a:r>
              <a:rPr lang="en-US" sz="1800" dirty="0">
                <a:solidFill>
                  <a:schemeClr val="tx1"/>
                </a:solidFill>
              </a:rPr>
              <a:t>Normalized the design up to 3NF</a:t>
            </a:r>
            <a:endParaRPr lang="en-US" sz="1800" dirty="0"/>
          </a:p>
          <a:p>
            <a:pPr marL="342900" indent="-342900">
              <a:spcAft>
                <a:spcPts val="1600"/>
              </a:spcAft>
              <a:buSzPct val="100000"/>
              <a:buChar char="•"/>
            </a:pPr>
            <a:r>
              <a:rPr lang="en-US" sz="1800" dirty="0">
                <a:solidFill>
                  <a:schemeClr val="tx1"/>
                </a:solidFill>
              </a:rPr>
              <a:t>Built SQL reports for percentages, defaulters and absentees</a:t>
            </a:r>
            <a:endParaRPr lang="en-US" sz="1800" dirty="0"/>
          </a:p>
          <a:p>
            <a:pPr marL="342900" indent="-342900">
              <a:spcAft>
                <a:spcPts val="1600"/>
              </a:spcAft>
              <a:buSzPct val="100000"/>
              <a:buChar char="•"/>
            </a:pPr>
            <a:r>
              <a:rPr lang="en-US" sz="1800" dirty="0">
                <a:solidFill>
                  <a:schemeClr val="tx1"/>
                </a:solidFill>
              </a:rPr>
              <a:t>Delivered CLI, desktop and browser interfaces</a:t>
            </a:r>
            <a:endParaRPr lang="en-US" sz="1800" dirty="0"/>
          </a:p>
        </p:txBody>
      </p:sp>
      <p:sp>
        <p:nvSpPr>
          <p:cNvPr id="8" name="Future scope heading"/>
          <p:cNvSpPr txBox="1"/>
          <p:nvPr/>
        </p:nvSpPr>
        <p:spPr>
          <a:xfrm>
            <a:off x="5760720" y="1325880"/>
            <a:ext cx="5943600" cy="365760"/>
          </a:xfrm>
          <a:prstGeom prst="rect">
            <a:avLst/>
          </a:prstGeom>
          <a:noFill/>
          <a:ln/>
        </p:spPr>
        <p:txBody>
          <a:bodyPr wrap="square" lIns="0" tIns="0" rIns="0" bIns="0" rtlCol="0" anchor="t"/>
          <a:lstStyle/>
          <a:p>
            <a:pPr marL="0" indent="0">
              <a:buNone/>
            </a:pPr>
            <a:r>
              <a:rPr lang="en-US" sz="2000" b="1" dirty="0">
                <a:solidFill>
                  <a:schemeClr val="accent1"/>
                </a:solidFill>
              </a:rPr>
              <a:t>Future scope</a:t>
            </a:r>
            <a:endParaRPr lang="en-US" sz="2000" dirty="0"/>
          </a:p>
        </p:txBody>
      </p:sp>
      <p:sp>
        <p:nvSpPr>
          <p:cNvPr id="9" name="Login roles for admin, faculty and students card"/>
          <p:cNvSpPr/>
          <p:nvPr/>
        </p:nvSpPr>
        <p:spPr>
          <a:xfrm>
            <a:off x="5760720" y="1783080"/>
            <a:ext cx="2926080" cy="1371600"/>
          </a:xfrm>
          <a:prstGeom prst="roundRect">
            <a:avLst>
              <a:gd name="adj" fmla="val 5333"/>
            </a:avLst>
          </a:prstGeom>
          <a:solidFill>
            <a:schemeClr val="bg2"/>
          </a:solidFill>
          <a:ln/>
        </p:spPr>
      </p:sp>
      <p:sp>
        <p:nvSpPr>
          <p:cNvPr id="10" name="Login roles for admin, faculty and students circle"/>
          <p:cNvSpPr/>
          <p:nvPr/>
        </p:nvSpPr>
        <p:spPr>
          <a:xfrm>
            <a:off x="5925312" y="2194560"/>
            <a:ext cx="548640" cy="548640"/>
          </a:xfrm>
          <a:prstGeom prst="ellipse">
            <a:avLst/>
          </a:prstGeom>
          <a:solidFill>
            <a:schemeClr val="accent2"/>
          </a:solidFill>
          <a:ln/>
        </p:spPr>
      </p:sp>
      <p:pic>
        <p:nvPicPr>
          <p:cNvPr id="11" name="Login roles for admin, faculty and students icon" descr="Login roles for admin, faculty and students"/>
          <p:cNvPicPr>
            <a:picLocks noChangeAspect="1"/>
          </p:cNvPicPr>
          <p:nvPr/>
        </p:nvPicPr>
        <p:blipFill>
          <a:blip r:embed="rId4"/>
          <a:stretch>
            <a:fillRect/>
          </a:stretch>
        </p:blipFill>
        <p:spPr>
          <a:xfrm>
            <a:off x="6073445" y="2342693"/>
            <a:ext cx="252374" cy="252374"/>
          </a:xfrm>
          <a:prstGeom prst="rect">
            <a:avLst/>
          </a:prstGeom>
        </p:spPr>
      </p:pic>
      <p:sp>
        <p:nvSpPr>
          <p:cNvPr id="12" name="Login roles for admin, faculty and students text"/>
          <p:cNvSpPr txBox="1"/>
          <p:nvPr/>
        </p:nvSpPr>
        <p:spPr>
          <a:xfrm>
            <a:off x="6629400" y="1920240"/>
            <a:ext cx="1920240" cy="1097280"/>
          </a:xfrm>
          <a:prstGeom prst="rect">
            <a:avLst/>
          </a:prstGeom>
          <a:noFill/>
          <a:ln/>
        </p:spPr>
        <p:txBody>
          <a:bodyPr wrap="square" lIns="0" tIns="0" rIns="0" bIns="0" rtlCol="0" anchor="ctr"/>
          <a:lstStyle/>
          <a:p>
            <a:pPr marL="0" indent="0">
              <a:buNone/>
            </a:pPr>
            <a:r>
              <a:rPr lang="en-US" sz="1400" dirty="0">
                <a:solidFill>
                  <a:schemeClr val="tx1"/>
                </a:solidFill>
              </a:rPr>
              <a:t>Login roles for admin, faculty and students</a:t>
            </a:r>
            <a:endParaRPr lang="en-US" sz="1400" dirty="0"/>
          </a:p>
        </p:txBody>
      </p:sp>
      <p:sp>
        <p:nvSpPr>
          <p:cNvPr id="13" name="Attendance entry linked to the timetable card"/>
          <p:cNvSpPr/>
          <p:nvPr/>
        </p:nvSpPr>
        <p:spPr>
          <a:xfrm>
            <a:off x="8805672" y="1783080"/>
            <a:ext cx="2926080" cy="1371600"/>
          </a:xfrm>
          <a:prstGeom prst="roundRect">
            <a:avLst>
              <a:gd name="adj" fmla="val 5333"/>
            </a:avLst>
          </a:prstGeom>
          <a:solidFill>
            <a:schemeClr val="bg2"/>
          </a:solidFill>
          <a:ln/>
        </p:spPr>
      </p:sp>
      <p:sp>
        <p:nvSpPr>
          <p:cNvPr id="14" name="Attendance entry linked to the timetable circle"/>
          <p:cNvSpPr/>
          <p:nvPr/>
        </p:nvSpPr>
        <p:spPr>
          <a:xfrm>
            <a:off x="8970264" y="2194560"/>
            <a:ext cx="548640" cy="548640"/>
          </a:xfrm>
          <a:prstGeom prst="ellipse">
            <a:avLst/>
          </a:prstGeom>
          <a:solidFill>
            <a:schemeClr val="accent2"/>
          </a:solidFill>
          <a:ln/>
        </p:spPr>
      </p:sp>
      <p:pic>
        <p:nvPicPr>
          <p:cNvPr id="15" name="Attendance entry linked to the timetable icon" descr="Attendance entry linked to the timetable"/>
          <p:cNvPicPr>
            <a:picLocks noChangeAspect="1"/>
          </p:cNvPicPr>
          <p:nvPr/>
        </p:nvPicPr>
        <p:blipFill>
          <a:blip r:embed="rId5"/>
          <a:stretch>
            <a:fillRect/>
          </a:stretch>
        </p:blipFill>
        <p:spPr>
          <a:xfrm>
            <a:off x="9118397" y="2342693"/>
            <a:ext cx="252374" cy="252374"/>
          </a:xfrm>
          <a:prstGeom prst="rect">
            <a:avLst/>
          </a:prstGeom>
        </p:spPr>
      </p:pic>
      <p:sp>
        <p:nvSpPr>
          <p:cNvPr id="16" name="Attendance entry linked to the timetable text"/>
          <p:cNvSpPr txBox="1"/>
          <p:nvPr/>
        </p:nvSpPr>
        <p:spPr>
          <a:xfrm>
            <a:off x="9674352" y="1920240"/>
            <a:ext cx="1920240" cy="1097280"/>
          </a:xfrm>
          <a:prstGeom prst="rect">
            <a:avLst/>
          </a:prstGeom>
          <a:noFill/>
          <a:ln/>
        </p:spPr>
        <p:txBody>
          <a:bodyPr wrap="square" lIns="0" tIns="0" rIns="0" bIns="0" rtlCol="0" anchor="ctr"/>
          <a:lstStyle/>
          <a:p>
            <a:pPr marL="0" indent="0">
              <a:buNone/>
            </a:pPr>
            <a:r>
              <a:rPr lang="en-US" sz="1400" dirty="0">
                <a:solidFill>
                  <a:schemeClr val="tx1"/>
                </a:solidFill>
              </a:rPr>
              <a:t>Attendance entry linked to the timetable</a:t>
            </a:r>
            <a:endParaRPr lang="en-US" sz="1400" dirty="0"/>
          </a:p>
        </p:txBody>
      </p:sp>
      <p:sp>
        <p:nvSpPr>
          <p:cNvPr id="17" name="PDF / Excel reports by course, semester and date card"/>
          <p:cNvSpPr/>
          <p:nvPr/>
        </p:nvSpPr>
        <p:spPr>
          <a:xfrm>
            <a:off x="5760720" y="3291840"/>
            <a:ext cx="2926080" cy="1371600"/>
          </a:xfrm>
          <a:prstGeom prst="roundRect">
            <a:avLst>
              <a:gd name="adj" fmla="val 5333"/>
            </a:avLst>
          </a:prstGeom>
          <a:solidFill>
            <a:schemeClr val="bg2"/>
          </a:solidFill>
          <a:ln/>
        </p:spPr>
      </p:sp>
      <p:sp>
        <p:nvSpPr>
          <p:cNvPr id="18" name="PDF / Excel reports by course, semester and date circle"/>
          <p:cNvSpPr/>
          <p:nvPr/>
        </p:nvSpPr>
        <p:spPr>
          <a:xfrm>
            <a:off x="5925312" y="3703320"/>
            <a:ext cx="548640" cy="548640"/>
          </a:xfrm>
          <a:prstGeom prst="ellipse">
            <a:avLst/>
          </a:prstGeom>
          <a:solidFill>
            <a:schemeClr val="accent2"/>
          </a:solidFill>
          <a:ln/>
        </p:spPr>
      </p:sp>
      <p:pic>
        <p:nvPicPr>
          <p:cNvPr id="19" name="PDF / Excel reports by course, semester and date icon" descr="PDF / Excel reports by course, semester and date"/>
          <p:cNvPicPr>
            <a:picLocks noChangeAspect="1"/>
          </p:cNvPicPr>
          <p:nvPr/>
        </p:nvPicPr>
        <p:blipFill>
          <a:blip r:embed="rId6"/>
          <a:stretch>
            <a:fillRect/>
          </a:stretch>
        </p:blipFill>
        <p:spPr>
          <a:xfrm>
            <a:off x="6073445" y="3851453"/>
            <a:ext cx="252374" cy="252374"/>
          </a:xfrm>
          <a:prstGeom prst="rect">
            <a:avLst/>
          </a:prstGeom>
        </p:spPr>
      </p:pic>
      <p:sp>
        <p:nvSpPr>
          <p:cNvPr id="20" name="PDF / Excel reports by course, semester and date text"/>
          <p:cNvSpPr txBox="1"/>
          <p:nvPr/>
        </p:nvSpPr>
        <p:spPr>
          <a:xfrm>
            <a:off x="6629400" y="3429000"/>
            <a:ext cx="1920240" cy="1097280"/>
          </a:xfrm>
          <a:prstGeom prst="rect">
            <a:avLst/>
          </a:prstGeom>
          <a:noFill/>
          <a:ln/>
        </p:spPr>
        <p:txBody>
          <a:bodyPr wrap="square" lIns="0" tIns="0" rIns="0" bIns="0" rtlCol="0" anchor="ctr"/>
          <a:lstStyle/>
          <a:p>
            <a:pPr marL="0" indent="0">
              <a:buNone/>
            </a:pPr>
            <a:r>
              <a:rPr lang="en-US" sz="1400" dirty="0">
                <a:solidFill>
                  <a:schemeClr val="tx1"/>
                </a:solidFill>
              </a:rPr>
              <a:t>PDF / Excel reports by course, semester and date</a:t>
            </a:r>
            <a:endParaRPr lang="en-US" sz="1400" dirty="0"/>
          </a:p>
        </p:txBody>
      </p:sp>
      <p:sp>
        <p:nvSpPr>
          <p:cNvPr id="21" name="Alerts for students nearing the minimum card"/>
          <p:cNvSpPr/>
          <p:nvPr/>
        </p:nvSpPr>
        <p:spPr>
          <a:xfrm>
            <a:off x="8805672" y="3291840"/>
            <a:ext cx="2926080" cy="1371600"/>
          </a:xfrm>
          <a:prstGeom prst="roundRect">
            <a:avLst>
              <a:gd name="adj" fmla="val 5333"/>
            </a:avLst>
          </a:prstGeom>
          <a:solidFill>
            <a:schemeClr val="bg2"/>
          </a:solidFill>
          <a:ln/>
        </p:spPr>
      </p:sp>
      <p:sp>
        <p:nvSpPr>
          <p:cNvPr id="22" name="Alerts for students nearing the minimum circle"/>
          <p:cNvSpPr/>
          <p:nvPr/>
        </p:nvSpPr>
        <p:spPr>
          <a:xfrm>
            <a:off x="8970264" y="3703320"/>
            <a:ext cx="548640" cy="548640"/>
          </a:xfrm>
          <a:prstGeom prst="ellipse">
            <a:avLst/>
          </a:prstGeom>
          <a:solidFill>
            <a:schemeClr val="accent2"/>
          </a:solidFill>
          <a:ln/>
        </p:spPr>
      </p:sp>
      <p:pic>
        <p:nvPicPr>
          <p:cNvPr id="23" name="Alerts for students nearing the minimum icon" descr="Alerts for students nearing the minimum"/>
          <p:cNvPicPr>
            <a:picLocks noChangeAspect="1"/>
          </p:cNvPicPr>
          <p:nvPr/>
        </p:nvPicPr>
        <p:blipFill>
          <a:blip r:embed="rId7"/>
          <a:stretch>
            <a:fillRect/>
          </a:stretch>
        </p:blipFill>
        <p:spPr>
          <a:xfrm>
            <a:off x="9118397" y="3851453"/>
            <a:ext cx="252374" cy="252374"/>
          </a:xfrm>
          <a:prstGeom prst="rect">
            <a:avLst/>
          </a:prstGeom>
        </p:spPr>
      </p:pic>
      <p:sp>
        <p:nvSpPr>
          <p:cNvPr id="24" name="Alerts for students nearing the minimum text"/>
          <p:cNvSpPr txBox="1"/>
          <p:nvPr/>
        </p:nvSpPr>
        <p:spPr>
          <a:xfrm>
            <a:off x="9674352" y="3429000"/>
            <a:ext cx="1920240" cy="1097280"/>
          </a:xfrm>
          <a:prstGeom prst="rect">
            <a:avLst/>
          </a:prstGeom>
          <a:noFill/>
          <a:ln/>
        </p:spPr>
        <p:txBody>
          <a:bodyPr wrap="square" lIns="0" tIns="0" rIns="0" bIns="0" rtlCol="0" anchor="ctr"/>
          <a:lstStyle/>
          <a:p>
            <a:pPr marL="0" indent="0">
              <a:buNone/>
            </a:pPr>
            <a:r>
              <a:rPr lang="en-US" sz="1400" dirty="0">
                <a:solidFill>
                  <a:schemeClr val="tx1"/>
                </a:solidFill>
              </a:rPr>
              <a:t>Alerts for students nearing the minimum</a:t>
            </a:r>
            <a:endParaRPr lang="en-US" sz="1400" dirty="0"/>
          </a:p>
        </p:txBody>
      </p:sp>
      <p:sp>
        <p:nvSpPr>
          <p:cNvPr id="25" name="Audit logs of who changed a record card"/>
          <p:cNvSpPr/>
          <p:nvPr/>
        </p:nvSpPr>
        <p:spPr>
          <a:xfrm>
            <a:off x="5760720" y="4800600"/>
            <a:ext cx="2926080" cy="1371600"/>
          </a:xfrm>
          <a:prstGeom prst="roundRect">
            <a:avLst>
              <a:gd name="adj" fmla="val 5333"/>
            </a:avLst>
          </a:prstGeom>
          <a:solidFill>
            <a:schemeClr val="bg2"/>
          </a:solidFill>
          <a:ln/>
        </p:spPr>
      </p:sp>
      <p:sp>
        <p:nvSpPr>
          <p:cNvPr id="26" name="Audit logs of who changed a record circle"/>
          <p:cNvSpPr/>
          <p:nvPr/>
        </p:nvSpPr>
        <p:spPr>
          <a:xfrm>
            <a:off x="5925312" y="5212080"/>
            <a:ext cx="548640" cy="548640"/>
          </a:xfrm>
          <a:prstGeom prst="ellipse">
            <a:avLst/>
          </a:prstGeom>
          <a:solidFill>
            <a:schemeClr val="accent2"/>
          </a:solidFill>
          <a:ln/>
        </p:spPr>
      </p:sp>
      <p:pic>
        <p:nvPicPr>
          <p:cNvPr id="27" name="Audit logs of who changed a record icon" descr="Audit logs of who changed a record"/>
          <p:cNvPicPr>
            <a:picLocks noChangeAspect="1"/>
          </p:cNvPicPr>
          <p:nvPr/>
        </p:nvPicPr>
        <p:blipFill>
          <a:blip r:embed="rId8"/>
          <a:stretch>
            <a:fillRect/>
          </a:stretch>
        </p:blipFill>
        <p:spPr>
          <a:xfrm>
            <a:off x="6073445" y="5360213"/>
            <a:ext cx="252374" cy="252374"/>
          </a:xfrm>
          <a:prstGeom prst="rect">
            <a:avLst/>
          </a:prstGeom>
        </p:spPr>
      </p:pic>
      <p:sp>
        <p:nvSpPr>
          <p:cNvPr id="28" name="Audit logs of who changed a record text"/>
          <p:cNvSpPr txBox="1"/>
          <p:nvPr/>
        </p:nvSpPr>
        <p:spPr>
          <a:xfrm>
            <a:off x="6629400" y="4937760"/>
            <a:ext cx="1920240" cy="1097280"/>
          </a:xfrm>
          <a:prstGeom prst="rect">
            <a:avLst/>
          </a:prstGeom>
          <a:noFill/>
          <a:ln/>
        </p:spPr>
        <p:txBody>
          <a:bodyPr wrap="square" lIns="0" tIns="0" rIns="0" bIns="0" rtlCol="0" anchor="ctr"/>
          <a:lstStyle/>
          <a:p>
            <a:pPr marL="0" indent="0">
              <a:buNone/>
            </a:pPr>
            <a:r>
              <a:rPr lang="en-US" sz="1400" dirty="0">
                <a:solidFill>
                  <a:schemeClr val="tx1"/>
                </a:solidFill>
              </a:rPr>
              <a:t>Audit logs of who changed a record</a:t>
            </a:r>
            <a:endParaRPr lang="en-US" sz="1400" dirty="0"/>
          </a:p>
        </p:txBody>
      </p:sp>
      <p:sp>
        <p:nvSpPr>
          <p:cNvPr id="29" name="MySQL version and regular backups card"/>
          <p:cNvSpPr/>
          <p:nvPr/>
        </p:nvSpPr>
        <p:spPr>
          <a:xfrm>
            <a:off x="8805672" y="4800600"/>
            <a:ext cx="2926080" cy="1371600"/>
          </a:xfrm>
          <a:prstGeom prst="roundRect">
            <a:avLst>
              <a:gd name="adj" fmla="val 5333"/>
            </a:avLst>
          </a:prstGeom>
          <a:solidFill>
            <a:schemeClr val="bg2"/>
          </a:solidFill>
          <a:ln/>
        </p:spPr>
      </p:sp>
      <p:sp>
        <p:nvSpPr>
          <p:cNvPr id="30" name="MySQL version and regular backups circle"/>
          <p:cNvSpPr/>
          <p:nvPr/>
        </p:nvSpPr>
        <p:spPr>
          <a:xfrm>
            <a:off x="8970264" y="5212080"/>
            <a:ext cx="548640" cy="548640"/>
          </a:xfrm>
          <a:prstGeom prst="ellipse">
            <a:avLst/>
          </a:prstGeom>
          <a:solidFill>
            <a:schemeClr val="accent2"/>
          </a:solidFill>
          <a:ln/>
        </p:spPr>
      </p:sp>
      <p:pic>
        <p:nvPicPr>
          <p:cNvPr id="31" name="MySQL version and regular backups icon" descr="MySQL version and regular backups"/>
          <p:cNvPicPr>
            <a:picLocks noChangeAspect="1"/>
          </p:cNvPicPr>
          <p:nvPr/>
        </p:nvPicPr>
        <p:blipFill>
          <a:blip r:embed="rId9"/>
          <a:stretch>
            <a:fillRect/>
          </a:stretch>
        </p:blipFill>
        <p:spPr>
          <a:xfrm>
            <a:off x="9118397" y="5360213"/>
            <a:ext cx="252374" cy="252374"/>
          </a:xfrm>
          <a:prstGeom prst="rect">
            <a:avLst/>
          </a:prstGeom>
        </p:spPr>
      </p:pic>
      <p:sp>
        <p:nvSpPr>
          <p:cNvPr id="32" name="MySQL version and regular backups text"/>
          <p:cNvSpPr txBox="1"/>
          <p:nvPr/>
        </p:nvSpPr>
        <p:spPr>
          <a:xfrm>
            <a:off x="9674352" y="4937760"/>
            <a:ext cx="1920240" cy="1097280"/>
          </a:xfrm>
          <a:prstGeom prst="rect">
            <a:avLst/>
          </a:prstGeom>
          <a:noFill/>
          <a:ln/>
        </p:spPr>
        <p:txBody>
          <a:bodyPr wrap="square" lIns="0" tIns="0" rIns="0" bIns="0" rtlCol="0" anchor="ctr"/>
          <a:lstStyle/>
          <a:p>
            <a:pPr marL="0" indent="0">
              <a:buNone/>
            </a:pPr>
            <a:r>
              <a:rPr lang="en-US" sz="1400" dirty="0">
                <a:solidFill>
                  <a:schemeClr val="tx1"/>
                </a:solidFill>
              </a:rPr>
              <a:t>MySQL version and regular backups</a:t>
            </a:r>
            <a:endParaRPr lang="en-US" sz="1400" dirty="0"/>
          </a:p>
        </p:txBody>
      </p:sp>
      <p:sp>
        <p:nvSpPr>
          <p:cNvPr id="33" name="Slide Number Placeholder 0"/>
          <p:cNvSpPr>
            <a:spLocks noGrp="1"/>
          </p:cNvSpPr>
          <p:nvPr>
            <p:ph type="sldNum" sz="quarter" idx="4294967295"/>
          </p:nvPr>
        </p:nvSpPr>
        <p:spPr>
          <a:xfrm>
            <a:off x="11064240" y="6419088"/>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Question mark circle"/>
          <p:cNvSpPr/>
          <p:nvPr/>
        </p:nvSpPr>
        <p:spPr>
          <a:xfrm>
            <a:off x="5596128" y="1371600"/>
            <a:ext cx="1005840" cy="1005840"/>
          </a:xfrm>
          <a:prstGeom prst="ellipse">
            <a:avLst/>
          </a:prstGeom>
          <a:solidFill>
            <a:schemeClr val="accent1"/>
          </a:solidFill>
          <a:ln/>
        </p:spPr>
      </p:sp>
      <p:pic>
        <p:nvPicPr>
          <p:cNvPr id="3" name="Question mark icon" descr="Question mark"/>
          <p:cNvPicPr>
            <a:picLocks noChangeAspect="1"/>
          </p:cNvPicPr>
          <p:nvPr/>
        </p:nvPicPr>
        <p:blipFill>
          <a:blip r:embed="rId3"/>
          <a:stretch>
            <a:fillRect/>
          </a:stretch>
        </p:blipFill>
        <p:spPr>
          <a:xfrm>
            <a:off x="5867705" y="1643177"/>
            <a:ext cx="462686" cy="462686"/>
          </a:xfrm>
          <a:prstGeom prst="rect">
            <a:avLst/>
          </a:prstGeom>
        </p:spPr>
      </p:pic>
      <p:sp>
        <p:nvSpPr>
          <p:cNvPr id="4" name="Text 0"/>
          <p:cNvSpPr>
            <a:spLocks noGrp="1"/>
          </p:cNvSpPr>
          <p:nvPr>
            <p:ph type="title" idx="102" hasCustomPrompt="1"/>
          </p:nvPr>
        </p:nvSpPr>
        <p:spPr>
          <a:xfrm>
            <a:off x="457200" y="2514600"/>
            <a:ext cx="11274552" cy="914400"/>
          </a:xfrm>
          <a:prstGeom prst="rect">
            <a:avLst/>
          </a:prstGeom>
          <a:noFill/>
          <a:ln/>
        </p:spPr>
        <p:txBody>
          <a:bodyPr wrap="square" rtlCol="0" anchor="ctr"/>
          <a:lstStyle/>
          <a:p>
            <a:pPr marL="0" indent="0" algn="ctr">
              <a:buNone/>
            </a:pPr>
            <a:r>
              <a:rPr lang="en-US" sz="5400" b="1" dirty="0">
                <a:solidFill>
                  <a:schemeClr val="tx2"/>
                </a:solidFill>
              </a:rPr>
              <a:t>Thank You</a:t>
            </a:r>
            <a:endParaRPr lang="en-US" sz="5400" dirty="0"/>
          </a:p>
        </p:txBody>
      </p:sp>
      <p:sp>
        <p:nvSpPr>
          <p:cNvPr id="5" name="Q and A label"/>
          <p:cNvSpPr txBox="1"/>
          <p:nvPr/>
        </p:nvSpPr>
        <p:spPr>
          <a:xfrm>
            <a:off x="1828800" y="3474720"/>
            <a:ext cx="8531352" cy="548640"/>
          </a:xfrm>
          <a:prstGeom prst="rect">
            <a:avLst/>
          </a:prstGeom>
          <a:noFill/>
          <a:ln/>
        </p:spPr>
        <p:txBody>
          <a:bodyPr wrap="square" lIns="0" tIns="0" rIns="0" bIns="0" rtlCol="0" anchor="t"/>
          <a:lstStyle/>
          <a:p>
            <a:pPr marL="0" indent="0" algn="ctr">
              <a:buNone/>
            </a:pPr>
            <a:r>
              <a:rPr lang="en-US" sz="2800" dirty="0">
                <a:solidFill>
                  <a:schemeClr val="accent2"/>
                </a:solidFill>
                <a:latin typeface="+mj-lt" pitchFamily="34" charset="0"/>
                <a:ea typeface="+mj-lt" pitchFamily="34" charset="-122"/>
                <a:cs typeface="+mj-lt" pitchFamily="34" charset="-120"/>
              </a:rPr>
              <a:t>Questions &amp; Answers</a:t>
            </a:r>
            <a:endParaRPr lang="en-US" sz="2800" dirty="0"/>
          </a:p>
        </p:txBody>
      </p:sp>
      <p:sp>
        <p:nvSpPr>
          <p:cNvPr id="6" name="Member card 1"/>
          <p:cNvSpPr/>
          <p:nvPr/>
        </p:nvSpPr>
        <p:spPr>
          <a:xfrm>
            <a:off x="457200" y="4754880"/>
            <a:ext cx="2651760" cy="1097280"/>
          </a:xfrm>
          <a:prstGeom prst="roundRect">
            <a:avLst>
              <a:gd name="adj" fmla="val 6667"/>
            </a:avLst>
          </a:prstGeom>
          <a:solidFill>
            <a:schemeClr val="bg2"/>
          </a:solidFill>
          <a:ln/>
        </p:spPr>
      </p:sp>
      <p:sp>
        <p:nvSpPr>
          <p:cNvPr id="7" name="Member 1 text"/>
          <p:cNvSpPr txBox="1"/>
          <p:nvPr/>
        </p:nvSpPr>
        <p:spPr>
          <a:xfrm>
            <a:off x="594360" y="4754880"/>
            <a:ext cx="2377440" cy="1097280"/>
          </a:xfrm>
          <a:prstGeom prst="rect">
            <a:avLst/>
          </a:prstGeom>
          <a:noFill/>
          <a:ln/>
        </p:spPr>
        <p:txBody>
          <a:bodyPr wrap="square" lIns="0" tIns="0" rIns="0" bIns="0" rtlCol="0" anchor="ctr"/>
          <a:lstStyle/>
          <a:p>
            <a:pPr marL="0" indent="0" algn="ctr">
              <a:spcAft>
                <a:spcPts val="400"/>
              </a:spcAft>
              <a:buNone/>
            </a:pPr>
            <a:r>
              <a:rPr lang="en-US" sz="1600" b="1" dirty="0">
                <a:solidFill>
                  <a:schemeClr val="tx1"/>
                </a:solidFill>
              </a:rPr>
              <a:t>Mistry Hit M</a:t>
            </a:r>
            <a:endParaRPr lang="en-US" sz="1600" dirty="0"/>
          </a:p>
          <a:p>
            <a:pPr marL="0" indent="0" algn="ctr">
              <a:buNone/>
            </a:pPr>
            <a:r>
              <a:rPr lang="en-US" sz="1400" dirty="0">
                <a:solidFill>
                  <a:schemeClr val="tx1"/>
                </a:solidFill>
              </a:rPr>
              <a:t>26D2DIT006</a:t>
            </a:r>
            <a:endParaRPr lang="en-US" sz="1600" dirty="0"/>
          </a:p>
        </p:txBody>
      </p:sp>
      <p:sp>
        <p:nvSpPr>
          <p:cNvPr id="8" name="Member card 2"/>
          <p:cNvSpPr/>
          <p:nvPr/>
        </p:nvSpPr>
        <p:spPr>
          <a:xfrm>
            <a:off x="3331159" y="4754880"/>
            <a:ext cx="2651760" cy="1097280"/>
          </a:xfrm>
          <a:prstGeom prst="roundRect">
            <a:avLst>
              <a:gd name="adj" fmla="val 6667"/>
            </a:avLst>
          </a:prstGeom>
          <a:solidFill>
            <a:schemeClr val="bg2"/>
          </a:solidFill>
          <a:ln/>
        </p:spPr>
      </p:sp>
      <p:sp>
        <p:nvSpPr>
          <p:cNvPr id="9" name="Member 2 text"/>
          <p:cNvSpPr txBox="1"/>
          <p:nvPr/>
        </p:nvSpPr>
        <p:spPr>
          <a:xfrm>
            <a:off x="3468319" y="4754880"/>
            <a:ext cx="2377440" cy="1097280"/>
          </a:xfrm>
          <a:prstGeom prst="rect">
            <a:avLst/>
          </a:prstGeom>
          <a:noFill/>
          <a:ln/>
        </p:spPr>
        <p:txBody>
          <a:bodyPr wrap="square" lIns="0" tIns="0" rIns="0" bIns="0" rtlCol="0" anchor="ctr"/>
          <a:lstStyle/>
          <a:p>
            <a:pPr marL="0" indent="0" algn="ctr">
              <a:spcAft>
                <a:spcPts val="400"/>
              </a:spcAft>
              <a:buNone/>
            </a:pPr>
            <a:r>
              <a:rPr lang="en-US" sz="1600" b="1" dirty="0">
                <a:solidFill>
                  <a:schemeClr val="tx1"/>
                </a:solidFill>
              </a:rPr>
              <a:t>Parmar Shrey S</a:t>
            </a:r>
            <a:endParaRPr lang="en-US" sz="1600" dirty="0"/>
          </a:p>
          <a:p>
            <a:pPr marL="0" indent="0" algn="ctr">
              <a:buNone/>
            </a:pPr>
            <a:r>
              <a:rPr lang="en-US" sz="1400" dirty="0">
                <a:solidFill>
                  <a:schemeClr val="tx1"/>
                </a:solidFill>
              </a:rPr>
              <a:t>26D2DIT007</a:t>
            </a:r>
            <a:endParaRPr lang="en-US" sz="1600" dirty="0"/>
          </a:p>
        </p:txBody>
      </p:sp>
      <p:sp>
        <p:nvSpPr>
          <p:cNvPr id="10" name="Member card 3"/>
          <p:cNvSpPr/>
          <p:nvPr/>
        </p:nvSpPr>
        <p:spPr>
          <a:xfrm>
            <a:off x="6205118" y="4754880"/>
            <a:ext cx="2651760" cy="1097280"/>
          </a:xfrm>
          <a:prstGeom prst="roundRect">
            <a:avLst>
              <a:gd name="adj" fmla="val 6667"/>
            </a:avLst>
          </a:prstGeom>
          <a:solidFill>
            <a:schemeClr val="bg2"/>
          </a:solidFill>
          <a:ln/>
        </p:spPr>
      </p:sp>
      <p:sp>
        <p:nvSpPr>
          <p:cNvPr id="11" name="Member 3 text"/>
          <p:cNvSpPr txBox="1"/>
          <p:nvPr/>
        </p:nvSpPr>
        <p:spPr>
          <a:xfrm>
            <a:off x="6342278" y="4754880"/>
            <a:ext cx="2377440" cy="1097280"/>
          </a:xfrm>
          <a:prstGeom prst="rect">
            <a:avLst/>
          </a:prstGeom>
          <a:noFill/>
          <a:ln/>
        </p:spPr>
        <p:txBody>
          <a:bodyPr wrap="square" lIns="0" tIns="0" rIns="0" bIns="0" rtlCol="0" anchor="ctr"/>
          <a:lstStyle/>
          <a:p>
            <a:pPr marL="0" indent="0" algn="ctr">
              <a:spcAft>
                <a:spcPts val="400"/>
              </a:spcAft>
              <a:buNone/>
            </a:pPr>
            <a:r>
              <a:rPr lang="en-US" sz="1600" b="1" dirty="0">
                <a:solidFill>
                  <a:schemeClr val="tx1"/>
                </a:solidFill>
              </a:rPr>
              <a:t>Rana Jaimin</a:t>
            </a:r>
            <a:endParaRPr lang="en-US" sz="1600" dirty="0"/>
          </a:p>
          <a:p>
            <a:pPr marL="0" indent="0" algn="ctr">
              <a:buNone/>
            </a:pPr>
            <a:r>
              <a:rPr lang="en-US" sz="1400" dirty="0">
                <a:solidFill>
                  <a:schemeClr val="tx1"/>
                </a:solidFill>
              </a:rPr>
              <a:t>12502080601040</a:t>
            </a:r>
            <a:endParaRPr lang="en-US" sz="1600" dirty="0"/>
          </a:p>
        </p:txBody>
      </p:sp>
      <p:sp>
        <p:nvSpPr>
          <p:cNvPr id="12" name="Member card 4"/>
          <p:cNvSpPr/>
          <p:nvPr/>
        </p:nvSpPr>
        <p:spPr>
          <a:xfrm>
            <a:off x="9079078" y="4754880"/>
            <a:ext cx="2651760" cy="1097280"/>
          </a:xfrm>
          <a:prstGeom prst="roundRect">
            <a:avLst>
              <a:gd name="adj" fmla="val 6667"/>
            </a:avLst>
          </a:prstGeom>
          <a:solidFill>
            <a:schemeClr val="bg2"/>
          </a:solidFill>
          <a:ln/>
        </p:spPr>
      </p:sp>
      <p:sp>
        <p:nvSpPr>
          <p:cNvPr id="13" name="Member 4 text"/>
          <p:cNvSpPr txBox="1"/>
          <p:nvPr/>
        </p:nvSpPr>
        <p:spPr>
          <a:xfrm>
            <a:off x="9216238" y="4754880"/>
            <a:ext cx="2377440" cy="1097280"/>
          </a:xfrm>
          <a:prstGeom prst="rect">
            <a:avLst/>
          </a:prstGeom>
          <a:noFill/>
          <a:ln/>
        </p:spPr>
        <p:txBody>
          <a:bodyPr wrap="square" lIns="0" tIns="0" rIns="0" bIns="0" rtlCol="0" anchor="ctr"/>
          <a:lstStyle/>
          <a:p>
            <a:pPr marL="0" indent="0" algn="ctr">
              <a:spcAft>
                <a:spcPts val="400"/>
              </a:spcAft>
              <a:buNone/>
            </a:pPr>
            <a:r>
              <a:rPr lang="en-US" sz="1600" b="1" dirty="0">
                <a:solidFill>
                  <a:schemeClr val="tx1"/>
                </a:solidFill>
              </a:rPr>
              <a:t>Patel Jayam</a:t>
            </a:r>
            <a:endParaRPr lang="en-US" sz="1600" dirty="0"/>
          </a:p>
          <a:p>
            <a:pPr marL="0" indent="0" algn="ctr">
              <a:buNone/>
            </a:pPr>
            <a:r>
              <a:rPr lang="en-US" sz="1400" dirty="0">
                <a:solidFill>
                  <a:schemeClr val="tx1"/>
                </a:solidFill>
              </a:rPr>
              <a:t>12502080601045</a:t>
            </a:r>
            <a:endParaRPr lang="en-US" sz="1600" dirty="0"/>
          </a:p>
        </p:txBody>
      </p:sp>
    </p:spTree>
  </p:cSld>
  <p:clrMapOvr>
    <a:masterClrMapping/>
  </p:clrMapOvr>
</p:sld>
</file>

<file path=ppt/theme/theme1.xml><?xml version="1.0" encoding="utf-8"?>
<a:theme xmlns:a="http://schemas.openxmlformats.org/drawingml/2006/main" name="ADIT Formal Light">
  <a:themeElements>
    <a:clrScheme name="ADIT Formal Light">
      <a:dk1>
        <a:srgbClr val="1E2A3A"/>
      </a:dk1>
      <a:lt1>
        <a:srgbClr val="FFFFFF"/>
      </a:lt1>
      <a:dk2>
        <a:srgbClr val="1F3A5F"/>
      </a:dk2>
      <a:lt2>
        <a:srgbClr val="E8EFF7"/>
      </a:lt2>
      <a:accent1>
        <a:srgbClr val="1F3A5F"/>
      </a:accent1>
      <a:accent2>
        <a:srgbClr val="2F6DB5"/>
      </a:accent2>
      <a:accent3>
        <a:srgbClr val="6C8EAD"/>
      </a:accent3>
      <a:accent4>
        <a:srgbClr val="2E7D5B"/>
      </a:accent4>
      <a:accent5>
        <a:srgbClr val="D9A21B"/>
      </a:accent5>
      <a:accent6>
        <a:srgbClr val="B94040"/>
      </a:accent6>
      <a:hlink>
        <a:srgbClr val="2F6DB5"/>
      </a:hlink>
      <a:folHlink>
        <a:srgbClr val="6C8EAD"/>
      </a:folHlink>
    </a:clrScheme>
    <a:fontScheme name="ADIT Formal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2443</Words>
  <Application>Microsoft Office PowerPoint</Application>
  <PresentationFormat>Widescreen</PresentationFormat>
  <Paragraphs>269</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Cambria</vt:lpstr>
      <vt:lpstr>Courier New</vt:lpstr>
      <vt:lpstr>ADIT Formal Light</vt:lpstr>
      <vt:lpstr>Student Attendance Management System</vt:lpstr>
      <vt:lpstr>Problem Statement &amp; Motivation</vt:lpstr>
      <vt:lpstr>System Objectives &amp; Requirements</vt:lpstr>
      <vt:lpstr>System Architecture / Flowchart</vt:lpstr>
      <vt:lpstr>Entity-Relationship (ER) Diagram</vt:lpstr>
      <vt:lpstr>Relational Schema &amp; Normalization</vt:lpstr>
      <vt:lpstr>SQL Implementation: DDL Scripts</vt:lpstr>
      <vt:lpstr>SQL Implementation: Queries (DML)</vt:lpstr>
      <vt:lpstr>Demonstration: Interfaces &amp; Stored Data</vt:lpstr>
      <vt:lpstr>Demonstration: Attendance Reports</vt:lpstr>
      <vt:lpstr>Conclusion &amp; Future Scope</vt:lpstr>
      <vt:lpstr>Thank You</vt:lpstr>
    </vt:vector>
  </TitlesOfParts>
  <Company>A. D. Patel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Attendance Management System - DBMS Mini Project</dc:title>
  <dc:subject>PptxGenJS Presentation</dc:subject>
  <dc:creator>DBMS Project Team</dc:creator>
  <cp:lastModifiedBy>Jayam Patel</cp:lastModifiedBy>
  <cp:revision>2</cp:revision>
  <dcterms:created xsi:type="dcterms:W3CDTF">2026-10-27T03:23:54Z</dcterms:created>
  <dcterms:modified xsi:type="dcterms:W3CDTF">2026-10-27T04:21:43Z</dcterms:modified>
</cp:coreProperties>
</file>